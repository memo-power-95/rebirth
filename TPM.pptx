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436" r:id="rId2"/>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57" autoAdjust="0"/>
    <p:restoredTop sz="95332" autoAdjust="0"/>
  </p:normalViewPr>
  <p:slideViewPr>
    <p:cSldViewPr snapToGrid="0">
      <p:cViewPr varScale="1">
        <p:scale>
          <a:sx n="114" d="100"/>
          <a:sy n="114" d="100"/>
        </p:scale>
        <p:origin x="10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56EB0B-3736-454C-BDC9-CFE6B03A8AAF}" type="datetimeFigureOut">
              <a:rPr lang="ko-KR" altLang="en-US" smtClean="0"/>
              <a:t>2026-09-18</a:t>
            </a:fld>
            <a:endParaRPr lang="ko-KR" altLang="en-US"/>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146203-DBE1-497C-BB2D-98327BF1F7AF}" type="slidenum">
              <a:rPr lang="ko-KR" altLang="en-US" smtClean="0"/>
              <a:t>‹#›</a:t>
            </a:fld>
            <a:endParaRPr lang="ko-KR" altLang="en-US"/>
          </a:p>
        </p:txBody>
      </p:sp>
    </p:spTree>
    <p:extLst>
      <p:ext uri="{BB962C8B-B14F-4D97-AF65-F5344CB8AC3E}">
        <p14:creationId xmlns:p14="http://schemas.microsoft.com/office/powerpoint/2010/main" val="303895283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defTabSz="915264">
              <a:defRPr/>
            </a:pPr>
            <a:endParaRPr lang="en-US" altLang="ko-KR" dirty="0">
              <a:solidFill>
                <a:schemeClr val="tx1"/>
              </a:solidFill>
              <a:latin typeface="Arial Narrow" pitchFamily="34" charset="0"/>
              <a:ea typeface="가는둥근제목체" pitchFamily="18" charset="-127"/>
              <a:cs typeface="Times New Roman" pitchFamily="18" charset="0"/>
            </a:endParaRPr>
          </a:p>
        </p:txBody>
      </p:sp>
      <p:sp>
        <p:nvSpPr>
          <p:cNvPr id="4" name="슬라이드 번호 개체 틀 3"/>
          <p:cNvSpPr>
            <a:spLocks noGrp="1"/>
          </p:cNvSpPr>
          <p:nvPr>
            <p:ph type="sldNum" sz="quarter" idx="10"/>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443883B-7D6F-4E64-B93B-9457A9247E9C}" type="slidenum">
              <a:rPr kumimoji="0" lang="en-US" altLang="ko-KR"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en-US" altLang="ko-KR"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383268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958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57443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4"/>
          <p:cNvSpPr txBox="1">
            <a:spLocks noChangeArrowheads="1"/>
          </p:cNvSpPr>
          <p:nvPr userDrawn="1"/>
        </p:nvSpPr>
        <p:spPr bwMode="auto">
          <a:xfrm>
            <a:off x="100000" y="536107"/>
            <a:ext cx="800477" cy="16619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ko-KR"/>
            </a:defPPr>
            <a:lvl1pPr eaLnBrk="1" fontAlgn="auto" hangingPunct="1">
              <a:spcAft>
                <a:spcPts val="0"/>
              </a:spcAft>
              <a:defRPr sz="2000">
                <a:solidFill>
                  <a:srgbClr val="000000"/>
                </a:solidFill>
                <a:latin typeface="Arial Narrow" panose="020B0606020202030204" pitchFamily="34" charset="0"/>
                <a:ea typeface="LG스마트체 Regular" panose="020B0600000101010101" pitchFamily="50" charset="-127"/>
                <a:cs typeface="+mj-cs"/>
              </a:defRPr>
            </a:lvl1pPr>
            <a:lvl2pPr algn="ctr" eaLnBrk="0" hangingPunct="0">
              <a:defRPr sz="4400">
                <a:solidFill>
                  <a:schemeClr val="tx2"/>
                </a:solidFill>
                <a:ea typeface="돋움" pitchFamily="50" charset="-127"/>
              </a:defRPr>
            </a:lvl2pPr>
            <a:lvl3pPr algn="ctr" eaLnBrk="0" hangingPunct="0">
              <a:defRPr sz="4400">
                <a:solidFill>
                  <a:schemeClr val="tx2"/>
                </a:solidFill>
                <a:ea typeface="돋움" pitchFamily="50" charset="-127"/>
              </a:defRPr>
            </a:lvl3pPr>
            <a:lvl4pPr algn="ctr" eaLnBrk="0" hangingPunct="0">
              <a:defRPr sz="4400">
                <a:solidFill>
                  <a:schemeClr val="tx2"/>
                </a:solidFill>
                <a:ea typeface="돋움" pitchFamily="50" charset="-127"/>
              </a:defRPr>
            </a:lvl4pPr>
            <a:lvl5pPr algn="ctr" eaLnBrk="0" hangingPunct="0">
              <a:defRPr sz="4400">
                <a:solidFill>
                  <a:schemeClr val="tx2"/>
                </a:solidFill>
                <a:ea typeface="돋움" pitchFamily="50" charset="-127"/>
              </a:defRPr>
            </a:lvl5pPr>
            <a:lvl6pPr marL="457200" algn="ctr" fontAlgn="base">
              <a:spcBef>
                <a:spcPct val="0"/>
              </a:spcBef>
              <a:spcAft>
                <a:spcPct val="0"/>
              </a:spcAft>
              <a:defRPr sz="4400">
                <a:solidFill>
                  <a:schemeClr val="tx2"/>
                </a:solidFill>
                <a:latin typeface="굴림" pitchFamily="50" charset="-127"/>
                <a:ea typeface="굴림" pitchFamily="50" charset="-127"/>
              </a:defRPr>
            </a:lvl6pPr>
            <a:lvl7pPr marL="914400" algn="ctr" fontAlgn="base">
              <a:spcBef>
                <a:spcPct val="0"/>
              </a:spcBef>
              <a:spcAft>
                <a:spcPct val="0"/>
              </a:spcAft>
              <a:defRPr sz="4400">
                <a:solidFill>
                  <a:schemeClr val="tx2"/>
                </a:solidFill>
                <a:latin typeface="굴림" pitchFamily="50" charset="-127"/>
                <a:ea typeface="굴림" pitchFamily="50" charset="-127"/>
              </a:defRPr>
            </a:lvl7pPr>
            <a:lvl8pPr marL="1371600" algn="ctr" fontAlgn="base">
              <a:spcBef>
                <a:spcPct val="0"/>
              </a:spcBef>
              <a:spcAft>
                <a:spcPct val="0"/>
              </a:spcAft>
              <a:defRPr sz="4400">
                <a:solidFill>
                  <a:schemeClr val="tx2"/>
                </a:solidFill>
                <a:latin typeface="굴림" pitchFamily="50" charset="-127"/>
                <a:ea typeface="굴림" pitchFamily="50" charset="-127"/>
              </a:defRPr>
            </a:lvl8pPr>
            <a:lvl9pPr marL="1828800" algn="ctr" fontAlgn="base">
              <a:spcBef>
                <a:spcPct val="0"/>
              </a:spcBef>
              <a:spcAft>
                <a:spcPct val="0"/>
              </a:spcAft>
              <a:defRPr sz="4400">
                <a:solidFill>
                  <a:schemeClr val="tx2"/>
                </a:solidFill>
                <a:latin typeface="굴림" pitchFamily="50" charset="-127"/>
                <a:ea typeface="굴림" pitchFamily="50" charset="-127"/>
              </a:defRPr>
            </a:lvl9pPr>
          </a:lstStyle>
          <a:p>
            <a:pPr>
              <a:lnSpc>
                <a:spcPct val="90000"/>
              </a:lnSpc>
            </a:pPr>
            <a:r>
              <a:rPr lang="ko-KR" altLang="en-US" sz="1200" b="1" u="none" spc="-30" dirty="0">
                <a:solidFill>
                  <a:schemeClr val="tx1"/>
                </a:solidFill>
                <a:latin typeface="바탕" panose="02030600000101010101" pitchFamily="18" charset="-127"/>
                <a:ea typeface="바탕" panose="02030600000101010101" pitchFamily="18" charset="-127"/>
              </a:rPr>
              <a:t>☞</a:t>
            </a:r>
            <a:r>
              <a:rPr lang="ko-KR" altLang="en-US" sz="1200" b="1" u="none" spc="-30" dirty="0">
                <a:solidFill>
                  <a:schemeClr val="tx1"/>
                </a:solidFill>
              </a:rPr>
              <a:t> </a:t>
            </a:r>
            <a:r>
              <a:rPr lang="en-US" altLang="ko-KR" sz="1200" b="1" u="none" spc="-30" dirty="0">
                <a:solidFill>
                  <a:schemeClr val="tx1"/>
                </a:solidFill>
              </a:rPr>
              <a:t>Idea </a:t>
            </a:r>
            <a:r>
              <a:rPr lang="ko-KR" altLang="en-US" sz="1200" b="1" u="none" spc="-30" dirty="0">
                <a:solidFill>
                  <a:schemeClr val="tx1"/>
                </a:solidFill>
              </a:rPr>
              <a:t>발상</a:t>
            </a:r>
            <a:endParaRPr lang="en-US" altLang="ko-KR" sz="1800" b="1" u="none" spc="-30" dirty="0">
              <a:solidFill>
                <a:schemeClr val="tx1"/>
              </a:solidFill>
            </a:endParaRPr>
          </a:p>
        </p:txBody>
      </p:sp>
      <p:sp>
        <p:nvSpPr>
          <p:cNvPr id="8" name="Line 2">
            <a:extLst>
              <a:ext uri="{FF2B5EF4-FFF2-40B4-BE49-F238E27FC236}">
                <a16:creationId xmlns:a16="http://schemas.microsoft.com/office/drawing/2014/main" id="{012BBBE0-E98F-588B-E7C8-2FCC7B62B528}"/>
              </a:ext>
            </a:extLst>
          </p:cNvPr>
          <p:cNvSpPr>
            <a:spLocks noChangeShapeType="1"/>
          </p:cNvSpPr>
          <p:nvPr userDrawn="1"/>
        </p:nvSpPr>
        <p:spPr bwMode="auto">
          <a:xfrm>
            <a:off x="96013" y="507035"/>
            <a:ext cx="8957817" cy="1048"/>
          </a:xfrm>
          <a:prstGeom prst="line">
            <a:avLst/>
          </a:prstGeom>
          <a:noFill/>
          <a:ln w="9525">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defPPr>
              <a:defRPr lang="ko-KR"/>
            </a:defPPr>
            <a:lvl1pPr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5pPr>
            <a:lvl6pPr marL="2286000" algn="l" defTabSz="914400" rtl="0" eaLnBrk="1" latinLnBrk="1" hangingPunct="1">
              <a:defRPr kumimoji="1" kern="1200">
                <a:solidFill>
                  <a:schemeClr val="tx1"/>
                </a:solidFill>
                <a:latin typeface="맑은 고딕" pitchFamily="50" charset="-127"/>
                <a:ea typeface="굴림" pitchFamily="50" charset="-127"/>
                <a:cs typeface="+mn-cs"/>
              </a:defRPr>
            </a:lvl6pPr>
            <a:lvl7pPr marL="2743200" algn="l" defTabSz="914400" rtl="0" eaLnBrk="1" latinLnBrk="1" hangingPunct="1">
              <a:defRPr kumimoji="1" kern="1200">
                <a:solidFill>
                  <a:schemeClr val="tx1"/>
                </a:solidFill>
                <a:latin typeface="맑은 고딕" pitchFamily="50" charset="-127"/>
                <a:ea typeface="굴림" pitchFamily="50" charset="-127"/>
                <a:cs typeface="+mn-cs"/>
              </a:defRPr>
            </a:lvl7pPr>
            <a:lvl8pPr marL="3200400" algn="l" defTabSz="914400" rtl="0" eaLnBrk="1" latinLnBrk="1" hangingPunct="1">
              <a:defRPr kumimoji="1" kern="1200">
                <a:solidFill>
                  <a:schemeClr val="tx1"/>
                </a:solidFill>
                <a:latin typeface="맑은 고딕" pitchFamily="50" charset="-127"/>
                <a:ea typeface="굴림" pitchFamily="50" charset="-127"/>
                <a:cs typeface="+mn-cs"/>
              </a:defRPr>
            </a:lvl8pPr>
            <a:lvl9pPr marL="3657600" algn="l" defTabSz="914400" rtl="0" eaLnBrk="1" latinLnBrk="1" hangingPunct="1">
              <a:defRPr kumimoji="1" kern="1200">
                <a:solidFill>
                  <a:schemeClr val="tx1"/>
                </a:solidFill>
                <a:latin typeface="맑은 고딕" pitchFamily="50" charset="-127"/>
                <a:ea typeface="굴림" pitchFamily="50" charset="-127"/>
                <a:cs typeface="+mn-cs"/>
              </a:defRPr>
            </a:lvl9pPr>
          </a:lstStyle>
          <a:p>
            <a:pPr algn="ctr" fontAlgn="auto">
              <a:spcBef>
                <a:spcPts val="0"/>
              </a:spcBef>
              <a:spcAft>
                <a:spcPts val="0"/>
              </a:spcAft>
              <a:defRPr/>
            </a:pPr>
            <a:endParaRPr kumimoji="0" lang="ko-KR" altLang="en-US" sz="1200" dirty="0">
              <a:solidFill>
                <a:prstClr val="black"/>
              </a:solidFill>
              <a:latin typeface="Arial Narrow" panose="020B0606020202030204" pitchFamily="34" charset="0"/>
              <a:ea typeface="LG스마트체 Regular" panose="020B0600000101010101" pitchFamily="50" charset="-127"/>
            </a:endParaRPr>
          </a:p>
        </p:txBody>
      </p:sp>
      <p:pic>
        <p:nvPicPr>
          <p:cNvPr id="9" name="그림 8">
            <a:extLst>
              <a:ext uri="{FF2B5EF4-FFF2-40B4-BE49-F238E27FC236}">
                <a16:creationId xmlns:a16="http://schemas.microsoft.com/office/drawing/2014/main" id="{806BEC9B-7510-3F9F-4052-5C6CCCB795F4}"/>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845550" y="254538"/>
            <a:ext cx="924824" cy="269374"/>
          </a:xfrm>
          <a:prstGeom prst="rect">
            <a:avLst/>
          </a:prstGeom>
          <a:noFill/>
        </p:spPr>
      </p:pic>
      <p:sp>
        <p:nvSpPr>
          <p:cNvPr id="13" name="TextBox 12">
            <a:extLst>
              <a:ext uri="{FF2B5EF4-FFF2-40B4-BE49-F238E27FC236}">
                <a16:creationId xmlns:a16="http://schemas.microsoft.com/office/drawing/2014/main" id="{28B8192F-9FA3-6243-E1A7-4CD2AC29FCAE}"/>
              </a:ext>
            </a:extLst>
          </p:cNvPr>
          <p:cNvSpPr txBox="1"/>
          <p:nvPr userDrawn="1"/>
        </p:nvSpPr>
        <p:spPr>
          <a:xfrm>
            <a:off x="7635488" y="322539"/>
            <a:ext cx="1143829" cy="195814"/>
          </a:xfrm>
          <a:prstGeom prst="rect">
            <a:avLst/>
          </a:prstGeom>
          <a:noFill/>
        </p:spPr>
        <p:txBody>
          <a:bodyPr wrap="none" lIns="36000" tIns="36000" rIns="36000" bIns="36000" rtlCol="0">
            <a:spAutoFit/>
          </a:bodyPr>
          <a:lstStyle/>
          <a:p>
            <a:pPr algn="r">
              <a:spcAft>
                <a:spcPts val="600"/>
              </a:spcAft>
            </a:pPr>
            <a:r>
              <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rPr>
              <a:t>○ 완료</a:t>
            </a:r>
            <a:r>
              <a:rPr lang="en-US" altLang="ko-KR" sz="800" spc="-40" baseline="0" dirty="0">
                <a:solidFill>
                  <a:prstClr val="black">
                    <a:lumMod val="65000"/>
                    <a:lumOff val="35000"/>
                  </a:prstClr>
                </a:solidFill>
                <a:latin typeface="Arial Narrow" panose="020B0606020202030204" pitchFamily="34" charset="0"/>
                <a:ea typeface="LG스마트체 Regular" panose="020B0600000101010101" pitchFamily="50" charset="-127"/>
              </a:rPr>
              <a:t>, </a:t>
            </a:r>
            <a:r>
              <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 진행 중</a:t>
            </a:r>
            <a:r>
              <a:rPr lang="en-US" altLang="ko-KR" sz="800" spc="-40" baseline="0" dirty="0">
                <a:solidFill>
                  <a:prstClr val="black">
                    <a:lumMod val="65000"/>
                    <a:lumOff val="35000"/>
                  </a:prstClr>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 X </a:t>
            </a:r>
            <a:r>
              <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불필요</a:t>
            </a:r>
            <a:endPar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endParaRPr>
          </a:p>
        </p:txBody>
      </p:sp>
      <p:sp>
        <p:nvSpPr>
          <p:cNvPr id="4" name="MSIPCMContentMarking" descr="{&quot;HashCode&quot;:1951497329,&quot;Placement&quot;:&quot;Footer&quot;,&quot;Top&quot;:521.91,&quot;Left&quot;:0.0,&quot;SlideWidth&quot;:780,&quot;SlideHeight&quot;:540}">
            <a:extLst>
              <a:ext uri="{FF2B5EF4-FFF2-40B4-BE49-F238E27FC236}">
                <a16:creationId xmlns:a16="http://schemas.microsoft.com/office/drawing/2014/main" id="{12AAB368-A7C1-43AE-BFC6-ABE9638B5267}"/>
              </a:ext>
            </a:extLst>
          </p:cNvPr>
          <p:cNvSpPr txBox="1"/>
          <p:nvPr userDrawn="1"/>
        </p:nvSpPr>
        <p:spPr>
          <a:xfrm>
            <a:off x="0" y="6628257"/>
            <a:ext cx="4632731" cy="229743"/>
          </a:xfrm>
          <a:prstGeom prst="rect">
            <a:avLst/>
          </a:prstGeom>
          <a:noFill/>
        </p:spPr>
        <p:txBody>
          <a:bodyPr vert="horz" wrap="square" lIns="0" tIns="0" rIns="0" bIns="0" rtlCol="0" anchor="ctr" anchorCtr="1">
            <a:spAutoFit/>
          </a:bodyPr>
          <a:lstStyle/>
          <a:p>
            <a:pPr algn="l">
              <a:spcBef>
                <a:spcPts val="0"/>
              </a:spcBef>
              <a:spcAft>
                <a:spcPts val="0"/>
              </a:spcAft>
            </a:pPr>
            <a:r>
              <a:rPr lang="en-US" altLang="ko-KR" sz="900">
                <a:solidFill>
                  <a:srgbClr val="808080"/>
                </a:solidFill>
                <a:latin typeface="LG스마트체 SemiBold" panose="020B0600000101010101" pitchFamily="50" charset="-127"/>
              </a:rPr>
              <a:t>LG Innotek Confidential : This document is protected by security policies and laws.</a:t>
            </a:r>
            <a:endParaRPr lang="ko-KR" altLang="en-US" sz="900">
              <a:solidFill>
                <a:srgbClr val="808080"/>
              </a:solidFill>
              <a:latin typeface="LG스마트체 SemiBold" panose="020B0600000101010101" pitchFamily="50" charset="-127"/>
            </a:endParaRPr>
          </a:p>
        </p:txBody>
      </p:sp>
      <p:sp>
        <p:nvSpPr>
          <p:cNvPr id="5" name="MSIPCMContentMarking" descr="{&quot;HashCode&quot;:166943725,&quot;Placement&quot;:&quot;Header&quot;,&quot;Top&quot;:0.0,&quot;Left&quot;:685.0934,&quot;SlideWidth&quot;:780,&quot;SlideHeight&quot;:540}">
            <a:extLst>
              <a:ext uri="{FF2B5EF4-FFF2-40B4-BE49-F238E27FC236}">
                <a16:creationId xmlns:a16="http://schemas.microsoft.com/office/drawing/2014/main" id="{1C6DA701-D2FC-45C4-96C0-A0240BD62C56}"/>
              </a:ext>
            </a:extLst>
          </p:cNvPr>
          <p:cNvSpPr txBox="1"/>
          <p:nvPr userDrawn="1"/>
        </p:nvSpPr>
        <p:spPr>
          <a:xfrm>
            <a:off x="8700686" y="0"/>
            <a:ext cx="1205314" cy="260477"/>
          </a:xfrm>
          <a:prstGeom prst="rect">
            <a:avLst/>
          </a:prstGeom>
          <a:noFill/>
        </p:spPr>
        <p:txBody>
          <a:bodyPr vert="horz" wrap="square" lIns="0" tIns="0" rIns="0" bIns="0" rtlCol="0" anchor="ctr" anchorCtr="1">
            <a:spAutoFit/>
          </a:bodyPr>
          <a:lstStyle/>
          <a:p>
            <a:pPr algn="r">
              <a:spcBef>
                <a:spcPts val="0"/>
              </a:spcBef>
              <a:spcAft>
                <a:spcPts val="0"/>
              </a:spcAft>
            </a:pPr>
            <a:r>
              <a:rPr lang="en-US" altLang="ko-KR" sz="1100">
                <a:solidFill>
                  <a:srgbClr val="C0004B"/>
                </a:solidFill>
                <a:latin typeface="LG스마트체2.0 Bold" panose="020B0600000101010101" pitchFamily="50" charset="-127"/>
              </a:rPr>
              <a:t>[Confidential]</a:t>
            </a:r>
            <a:endParaRPr lang="ko-KR" altLang="en-US" sz="1100">
              <a:solidFill>
                <a:srgbClr val="C0004B"/>
              </a:solidFill>
              <a:latin typeface="LG스마트체2.0 Bold" panose="020B0600000101010101" pitchFamily="50" charset="-127"/>
            </a:endParaRPr>
          </a:p>
        </p:txBody>
      </p:sp>
    </p:spTree>
    <p:extLst>
      <p:ext uri="{BB962C8B-B14F-4D97-AF65-F5344CB8AC3E}">
        <p14:creationId xmlns:p14="http://schemas.microsoft.com/office/powerpoint/2010/main" val="4029210608"/>
      </p:ext>
    </p:extLst>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B4C45B1D-E888-4864-B011-5E6CCF1F7936}"/>
              </a:ext>
            </a:extLst>
          </p:cNvPr>
          <p:cNvGrpSpPr/>
          <p:nvPr/>
        </p:nvGrpSpPr>
        <p:grpSpPr>
          <a:xfrm>
            <a:off x="7091806" y="1855036"/>
            <a:ext cx="2728470" cy="4813582"/>
            <a:chOff x="7091806" y="1808152"/>
            <a:chExt cx="2609448" cy="4813582"/>
          </a:xfrm>
        </p:grpSpPr>
        <p:sp>
          <p:nvSpPr>
            <p:cNvPr id="56" name="AutoShape 20"/>
            <p:cNvSpPr>
              <a:spLocks noChangeArrowheads="1"/>
            </p:cNvSpPr>
            <p:nvPr/>
          </p:nvSpPr>
          <p:spPr bwMode="auto">
            <a:xfrm>
              <a:off x="7091806" y="2013357"/>
              <a:ext cx="2609448" cy="4608377"/>
            </a:xfrm>
            <a:prstGeom prst="roundRect">
              <a:avLst>
                <a:gd name="adj" fmla="val 2403"/>
              </a:avLst>
            </a:prstGeom>
            <a:solidFill>
              <a:schemeClr val="bg1"/>
            </a:solidFill>
            <a:ln w="12700" algn="ctr">
              <a:solidFill>
                <a:schemeClr val="bg1">
                  <a:lumMod val="75000"/>
                </a:schemeClr>
              </a:solidFill>
              <a:round/>
              <a:headEnd/>
              <a:tailEnd/>
            </a:ln>
            <a:effectLst/>
          </p:spPr>
          <p:txBody>
            <a:bodyPr wrap="none" lIns="91429" tIns="45715" rIns="91429" bIns="4571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endParaRPr>
            </a:p>
          </p:txBody>
        </p:sp>
        <p:sp>
          <p:nvSpPr>
            <p:cNvPr id="55" name="AutoShape 20"/>
            <p:cNvSpPr>
              <a:spLocks noChangeArrowheads="1"/>
            </p:cNvSpPr>
            <p:nvPr/>
          </p:nvSpPr>
          <p:spPr bwMode="auto">
            <a:xfrm>
              <a:off x="7091806" y="1808152"/>
              <a:ext cx="2609448" cy="294484"/>
            </a:xfrm>
            <a:prstGeom prst="roundRect">
              <a:avLst>
                <a:gd name="adj" fmla="val 10700"/>
              </a:avLst>
            </a:prstGeom>
            <a:solidFill>
              <a:schemeClr val="bg1">
                <a:lumMod val="85000"/>
              </a:schemeClr>
            </a:solidFill>
            <a:ln w="12700" algn="ctr">
              <a:solidFill>
                <a:schemeClr val="bg1">
                  <a:lumMod val="75000"/>
                </a:schemeClr>
              </a:solidFill>
              <a:round/>
              <a:headEnd/>
              <a:tailEnd/>
            </a:ln>
            <a:effectLst/>
          </p:spPr>
          <p:txBody>
            <a:bodyPr wrap="none" lIns="91429" tIns="45715" rIns="91429" bIns="45715"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altLang="ko-KR" sz="1400" b="1" kern="0" dirty="0">
                  <a:solidFill>
                    <a:sysClr val="windowText" lastClr="000000"/>
                  </a:solidFill>
                  <a:latin typeface="LG스마트체 Regular" panose="020B0600000101010101" pitchFamily="50" charset="-127"/>
                  <a:ea typeface="LG스마트체 Regular" panose="020B0600000101010101" pitchFamily="50" charset="-127"/>
                </a:rPr>
                <a:t>After </a:t>
              </a:r>
              <a:r>
                <a:rPr lang="es-419" altLang="ko-KR" sz="1400" b="1" kern="0" dirty="0" err="1">
                  <a:solidFill>
                    <a:sysClr val="windowText" lastClr="000000"/>
                  </a:solidFill>
                  <a:latin typeface="LG스마트체 Regular" panose="020B0600000101010101" pitchFamily="50" charset="-127"/>
                  <a:ea typeface="LG스마트체 Regular" panose="020B0600000101010101" pitchFamily="50" charset="-127"/>
                </a:rPr>
                <a:t>improvement</a:t>
              </a:r>
              <a:endParaRPr kumimoji="0" lang="en-US" altLang="ko-KR" sz="1400" b="1" i="0" u="none" strike="noStrike" kern="0" cap="none" spc="0" normalizeH="0" baseline="0" noProof="0" dirty="0">
                <a:ln>
                  <a:noFill/>
                </a:ln>
                <a:solidFill>
                  <a:sysClr val="windowText" lastClr="000000"/>
                </a:solidFill>
                <a:effectLst/>
                <a:uLnTx/>
                <a:uFillTx/>
                <a:latin typeface="LG스마트체 Regular" panose="020B0600000101010101" pitchFamily="50" charset="-127"/>
                <a:ea typeface="LG스마트체 Regular" panose="020B0600000101010101" pitchFamily="50" charset="-127"/>
              </a:endParaRPr>
            </a:p>
          </p:txBody>
        </p:sp>
      </p:grpSp>
      <p:grpSp>
        <p:nvGrpSpPr>
          <p:cNvPr id="3" name="그룹 2">
            <a:extLst>
              <a:ext uri="{FF2B5EF4-FFF2-40B4-BE49-F238E27FC236}">
                <a16:creationId xmlns:a16="http://schemas.microsoft.com/office/drawing/2014/main" id="{C70F6EBB-F0F3-4470-A73A-8A760F7D4373}"/>
              </a:ext>
            </a:extLst>
          </p:cNvPr>
          <p:cNvGrpSpPr/>
          <p:nvPr/>
        </p:nvGrpSpPr>
        <p:grpSpPr>
          <a:xfrm>
            <a:off x="3203374" y="1855036"/>
            <a:ext cx="3816424" cy="4814324"/>
            <a:chOff x="3203374" y="1807410"/>
            <a:chExt cx="3816424" cy="4814324"/>
          </a:xfrm>
        </p:grpSpPr>
        <p:sp>
          <p:nvSpPr>
            <p:cNvPr id="66" name="AutoShape 20"/>
            <p:cNvSpPr>
              <a:spLocks noChangeArrowheads="1"/>
            </p:cNvSpPr>
            <p:nvPr/>
          </p:nvSpPr>
          <p:spPr bwMode="auto">
            <a:xfrm>
              <a:off x="3203374" y="2013358"/>
              <a:ext cx="3816424" cy="4608376"/>
            </a:xfrm>
            <a:prstGeom prst="roundRect">
              <a:avLst>
                <a:gd name="adj" fmla="val 2403"/>
              </a:avLst>
            </a:prstGeom>
            <a:solidFill>
              <a:schemeClr val="bg1"/>
            </a:solidFill>
            <a:ln w="12700" algn="ctr">
              <a:solidFill>
                <a:schemeClr val="bg1">
                  <a:lumMod val="75000"/>
                </a:schemeClr>
              </a:solidFill>
              <a:round/>
              <a:headEnd/>
              <a:tailEnd/>
            </a:ln>
            <a:effectLst/>
          </p:spPr>
          <p:txBody>
            <a:bodyPr wrap="none" lIns="91429" tIns="45715" rIns="91429" bIns="4571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endParaRPr>
            </a:p>
          </p:txBody>
        </p:sp>
        <p:sp>
          <p:nvSpPr>
            <p:cNvPr id="65" name="AutoShape 20"/>
            <p:cNvSpPr>
              <a:spLocks noChangeArrowheads="1"/>
            </p:cNvSpPr>
            <p:nvPr/>
          </p:nvSpPr>
          <p:spPr bwMode="auto">
            <a:xfrm>
              <a:off x="3203374" y="1807410"/>
              <a:ext cx="3816424" cy="291459"/>
            </a:xfrm>
            <a:prstGeom prst="roundRect">
              <a:avLst>
                <a:gd name="adj" fmla="val 10700"/>
              </a:avLst>
            </a:prstGeom>
            <a:solidFill>
              <a:schemeClr val="bg1">
                <a:lumMod val="85000"/>
              </a:schemeClr>
            </a:solidFill>
            <a:ln w="12700" algn="ctr">
              <a:solidFill>
                <a:schemeClr val="bg1">
                  <a:lumMod val="75000"/>
                </a:schemeClr>
              </a:solidFill>
              <a:round/>
              <a:headEnd/>
              <a:tailEnd/>
            </a:ln>
            <a:effectLst/>
          </p:spPr>
          <p:txBody>
            <a:bodyPr wrap="none" lIns="91429" tIns="45715" rIns="91429" bIns="45715"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Breakthrough</a:t>
              </a:r>
              <a:endParaRPr kumimoji="0" lang="ko-KR" altLang="en-US" sz="1400" b="1" i="0" u="none" strike="noStrike" kern="120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endParaRPr>
            </a:p>
          </p:txBody>
        </p:sp>
      </p:grpSp>
      <p:grpSp>
        <p:nvGrpSpPr>
          <p:cNvPr id="4" name="그룹 3">
            <a:extLst>
              <a:ext uri="{FF2B5EF4-FFF2-40B4-BE49-F238E27FC236}">
                <a16:creationId xmlns:a16="http://schemas.microsoft.com/office/drawing/2014/main" id="{AD6F9705-D935-4A94-8CF5-843F594B71F8}"/>
              </a:ext>
            </a:extLst>
          </p:cNvPr>
          <p:cNvGrpSpPr/>
          <p:nvPr/>
        </p:nvGrpSpPr>
        <p:grpSpPr>
          <a:xfrm>
            <a:off x="118050" y="1817277"/>
            <a:ext cx="3047476" cy="4813582"/>
            <a:chOff x="161878" y="1808152"/>
            <a:chExt cx="2969488" cy="4813582"/>
          </a:xfrm>
        </p:grpSpPr>
        <p:sp>
          <p:nvSpPr>
            <p:cNvPr id="44" name="AutoShape 20"/>
            <p:cNvSpPr>
              <a:spLocks noChangeArrowheads="1"/>
            </p:cNvSpPr>
            <p:nvPr/>
          </p:nvSpPr>
          <p:spPr bwMode="auto">
            <a:xfrm>
              <a:off x="161878" y="2013358"/>
              <a:ext cx="2969488" cy="4608376"/>
            </a:xfrm>
            <a:prstGeom prst="roundRect">
              <a:avLst>
                <a:gd name="adj" fmla="val 2403"/>
              </a:avLst>
            </a:prstGeom>
            <a:solidFill>
              <a:schemeClr val="bg1"/>
            </a:solidFill>
            <a:ln w="12700" algn="ctr">
              <a:solidFill>
                <a:schemeClr val="bg1">
                  <a:lumMod val="75000"/>
                </a:schemeClr>
              </a:solidFill>
              <a:round/>
              <a:headEnd/>
              <a:tailEnd/>
            </a:ln>
            <a:effectLst/>
          </p:spPr>
          <p:txBody>
            <a:bodyPr wrap="none" lIns="91429" tIns="45715" rIns="91429" bIns="4571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endParaRPr>
            </a:p>
          </p:txBody>
        </p:sp>
        <p:sp>
          <p:nvSpPr>
            <p:cNvPr id="43" name="AutoShape 20"/>
            <p:cNvSpPr>
              <a:spLocks noChangeArrowheads="1"/>
            </p:cNvSpPr>
            <p:nvPr/>
          </p:nvSpPr>
          <p:spPr bwMode="auto">
            <a:xfrm>
              <a:off x="161878" y="1808152"/>
              <a:ext cx="2969488" cy="294484"/>
            </a:xfrm>
            <a:prstGeom prst="roundRect">
              <a:avLst>
                <a:gd name="adj" fmla="val 10700"/>
              </a:avLst>
            </a:prstGeom>
            <a:solidFill>
              <a:schemeClr val="bg1">
                <a:lumMod val="85000"/>
              </a:schemeClr>
            </a:solidFill>
            <a:ln w="12700" algn="ctr">
              <a:solidFill>
                <a:schemeClr val="bg1">
                  <a:lumMod val="75000"/>
                </a:schemeClr>
              </a:solidFill>
              <a:round/>
              <a:headEnd/>
              <a:tailEnd/>
            </a:ln>
            <a:effectLst/>
          </p:spPr>
          <p:txBody>
            <a:bodyPr wrap="none" lIns="91429" tIns="45715" rIns="91429" bIns="45715" anchor="ctr"/>
            <a:lstStyle/>
            <a:p>
              <a:pPr algn="ctr" latinLnBrk="0">
                <a:defRPr/>
              </a:pPr>
              <a:r>
                <a:rPr lang="es-MX" altLang="ko-KR" sz="1400" b="1" kern="0" dirty="0" err="1">
                  <a:solidFill>
                    <a:sysClr val="windowText" lastClr="000000"/>
                  </a:solidFill>
                  <a:latin typeface="Arial Narrow" panose="020B0606020202030204" pitchFamily="34" charset="0"/>
                  <a:ea typeface="LG스마트체 Regular" pitchFamily="50" charset="-127"/>
                </a:rPr>
                <a:t>Before</a:t>
              </a:r>
              <a:r>
                <a:rPr lang="es-MX" altLang="ko-KR" sz="1400" b="1" kern="0" dirty="0">
                  <a:solidFill>
                    <a:sysClr val="windowText" lastClr="000000"/>
                  </a:solidFill>
                  <a:latin typeface="Arial Narrow" panose="020B0606020202030204" pitchFamily="34" charset="0"/>
                  <a:ea typeface="LG스마트체 Regular" pitchFamily="50" charset="-127"/>
                </a:rPr>
                <a:t> </a:t>
              </a:r>
              <a:r>
                <a:rPr lang="es-MX" altLang="ko-KR" sz="1400" b="1" kern="0" dirty="0" err="1">
                  <a:solidFill>
                    <a:sysClr val="windowText" lastClr="000000"/>
                  </a:solidFill>
                  <a:latin typeface="Arial Narrow" panose="020B0606020202030204" pitchFamily="34" charset="0"/>
                  <a:ea typeface="LG스마트체 Regular" pitchFamily="50" charset="-127"/>
                </a:rPr>
                <a:t>improvement</a:t>
              </a:r>
              <a:endParaRPr lang="ko-KR" altLang="en-US" sz="1400" b="1" kern="0" dirty="0">
                <a:solidFill>
                  <a:sysClr val="windowText" lastClr="000000"/>
                </a:solidFill>
                <a:latin typeface="Arial Narrow" panose="020B0606020202030204" pitchFamily="34" charset="0"/>
                <a:ea typeface="LG스마트체 Regular" pitchFamily="50" charset="-127"/>
              </a:endParaRPr>
            </a:p>
          </p:txBody>
        </p:sp>
      </p:grpSp>
      <p:sp>
        <p:nvSpPr>
          <p:cNvPr id="40" name="Rectangle 4"/>
          <p:cNvSpPr txBox="1">
            <a:spLocks noChangeArrowheads="1"/>
          </p:cNvSpPr>
          <p:nvPr/>
        </p:nvSpPr>
        <p:spPr bwMode="auto">
          <a:xfrm>
            <a:off x="54755" y="102355"/>
            <a:ext cx="7105346" cy="276999"/>
          </a:xfrm>
          <a:prstGeom prst="rect">
            <a:avLst/>
          </a:prstGeom>
          <a:noFill/>
        </p:spPr>
        <p:txBody>
          <a:bodyPr wrap="square" lIns="72000" tIns="0" rIns="36000" bIns="0">
            <a:spAutoFit/>
          </a:bodyPr>
          <a:lstStyle>
            <a:defPPr>
              <a:defRPr lang="ko-KR"/>
            </a:defPPr>
            <a:lvl1pPr eaLnBrk="1" fontAlgn="auto" hangingPunct="1">
              <a:spcAft>
                <a:spcPts val="0"/>
              </a:spcAft>
              <a:defRPr sz="2000">
                <a:solidFill>
                  <a:srgbClr val="000000"/>
                </a:solidFill>
                <a:latin typeface="Arial Narrow" panose="020B0606020202030204" pitchFamily="34" charset="0"/>
                <a:ea typeface="LG스마트체 Regular" panose="020B0600000101010101" pitchFamily="50" charset="-127"/>
                <a:cs typeface="+mj-cs"/>
              </a:defRPr>
            </a:lvl1pPr>
            <a:lvl2pPr algn="ctr" eaLnBrk="0" hangingPunct="0">
              <a:defRPr sz="4400">
                <a:solidFill>
                  <a:schemeClr val="tx2"/>
                </a:solidFill>
                <a:ea typeface="돋움" pitchFamily="50" charset="-127"/>
              </a:defRPr>
            </a:lvl2pPr>
            <a:lvl3pPr algn="ctr" eaLnBrk="0" hangingPunct="0">
              <a:defRPr sz="4400">
                <a:solidFill>
                  <a:schemeClr val="tx2"/>
                </a:solidFill>
                <a:ea typeface="돋움" pitchFamily="50" charset="-127"/>
              </a:defRPr>
            </a:lvl3pPr>
            <a:lvl4pPr algn="ctr" eaLnBrk="0" hangingPunct="0">
              <a:defRPr sz="4400">
                <a:solidFill>
                  <a:schemeClr val="tx2"/>
                </a:solidFill>
                <a:ea typeface="돋움" pitchFamily="50" charset="-127"/>
              </a:defRPr>
            </a:lvl4pPr>
            <a:lvl5pPr algn="ctr" eaLnBrk="0" hangingPunct="0">
              <a:defRPr sz="4400">
                <a:solidFill>
                  <a:schemeClr val="tx2"/>
                </a:solidFill>
                <a:ea typeface="돋움" pitchFamily="50" charset="-127"/>
              </a:defRPr>
            </a:lvl5pPr>
            <a:lvl6pPr marL="457200" algn="ctr" fontAlgn="base">
              <a:spcBef>
                <a:spcPct val="0"/>
              </a:spcBef>
              <a:spcAft>
                <a:spcPct val="0"/>
              </a:spcAft>
              <a:defRPr sz="4400">
                <a:solidFill>
                  <a:schemeClr val="tx2"/>
                </a:solidFill>
                <a:latin typeface="굴림" pitchFamily="50" charset="-127"/>
                <a:ea typeface="굴림" pitchFamily="50" charset="-127"/>
              </a:defRPr>
            </a:lvl6pPr>
            <a:lvl7pPr marL="914400" algn="ctr" fontAlgn="base">
              <a:spcBef>
                <a:spcPct val="0"/>
              </a:spcBef>
              <a:spcAft>
                <a:spcPct val="0"/>
              </a:spcAft>
              <a:defRPr sz="4400">
                <a:solidFill>
                  <a:schemeClr val="tx2"/>
                </a:solidFill>
                <a:latin typeface="굴림" pitchFamily="50" charset="-127"/>
                <a:ea typeface="굴림" pitchFamily="50" charset="-127"/>
              </a:defRPr>
            </a:lvl7pPr>
            <a:lvl8pPr marL="1371600" algn="ctr" fontAlgn="base">
              <a:spcBef>
                <a:spcPct val="0"/>
              </a:spcBef>
              <a:spcAft>
                <a:spcPct val="0"/>
              </a:spcAft>
              <a:defRPr sz="4400">
                <a:solidFill>
                  <a:schemeClr val="tx2"/>
                </a:solidFill>
                <a:latin typeface="굴림" pitchFamily="50" charset="-127"/>
                <a:ea typeface="굴림" pitchFamily="50" charset="-127"/>
              </a:defRPr>
            </a:lvl8pPr>
            <a:lvl9pPr marL="1828800" algn="ctr" fontAlgn="base">
              <a:spcBef>
                <a:spcPct val="0"/>
              </a:spcBef>
              <a:spcAft>
                <a:spcPct val="0"/>
              </a:spcAft>
              <a:defRPr sz="4400">
                <a:solidFill>
                  <a:schemeClr val="tx2"/>
                </a:solidFill>
                <a:latin typeface="굴림" pitchFamily="50" charset="-127"/>
                <a:ea typeface="굴림" pitchFamily="50" charset="-127"/>
              </a:defRPr>
            </a:lvl9pPr>
          </a:lstStyle>
          <a:p>
            <a:pPr lvl="0" defTabSz="914400" latinLnBrk="1">
              <a:defRPr/>
            </a:pPr>
            <a:r>
              <a:rPr lang="en-US" altLang="ko-KR" sz="1800" b="1" spc="-30" dirty="0" smtClean="0">
                <a:solidFill>
                  <a:prstClr val="black"/>
                </a:solidFill>
                <a:latin typeface="LG스마트체 Regular" panose="020B0600000101010101" pitchFamily="50" charset="-127"/>
              </a:rPr>
              <a:t>Raw Material PPT and Evaluation Test</a:t>
            </a:r>
            <a:endParaRPr kumimoji="0" lang="ko-KR" altLang="en-US" sz="1800" b="1" i="0" u="none" strike="noStrike" kern="1200" cap="none" spc="-30" normalizeH="0" baseline="0" noProof="0" dirty="0">
              <a:ln>
                <a:noFill/>
              </a:ln>
              <a:solidFill>
                <a:prstClr val="black"/>
              </a:solidFill>
              <a:effectLst/>
              <a:uLnTx/>
              <a:uFillTx/>
              <a:latin typeface="LG스마트체 Regular" panose="020B0600000101010101" pitchFamily="50" charset="-127"/>
            </a:endParaRPr>
          </a:p>
        </p:txBody>
      </p:sp>
      <p:sp>
        <p:nvSpPr>
          <p:cNvPr id="73" name="직사각형 72"/>
          <p:cNvSpPr/>
          <p:nvPr/>
        </p:nvSpPr>
        <p:spPr>
          <a:xfrm>
            <a:off x="117817" y="1169205"/>
            <a:ext cx="8653040" cy="648072"/>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latinLnBrk="1">
              <a:lnSpc>
                <a:spcPct val="110000"/>
              </a:lnSpc>
              <a:defRPr/>
            </a:pPr>
            <a:r>
              <a:rPr lang="en-US" altLang="ko-KR" sz="1600" dirty="0" smtClean="0">
                <a:solidFill>
                  <a:schemeClr val="tx1"/>
                </a:solidFill>
                <a:latin typeface="LG스마트체 Regular" panose="020B0600000101010101" pitchFamily="50" charset="-127"/>
                <a:ea typeface="LG스마트체 Regular" panose="020B0600000101010101" pitchFamily="50" charset="-127"/>
              </a:rPr>
              <a:t>Material to train personnel in charge of Raw Material</a:t>
            </a:r>
            <a:endParaRPr kumimoji="0" lang="en-US" altLang="ko-KR" sz="1600" b="1" i="0" strike="noStrike" kern="1200" cap="none" spc="0" normalizeH="0" baseline="0" noProof="0" dirty="0">
              <a:ln>
                <a:noFill/>
              </a:ln>
              <a:solidFill>
                <a:srgbClr val="C00000"/>
              </a:solidFill>
              <a:effectLst/>
              <a:uLnTx/>
              <a:uFillTx/>
              <a:latin typeface="LG스마트체 Regular" panose="020B0600000101010101" pitchFamily="50" charset="-127"/>
              <a:ea typeface="LG스마트체 Regular" panose="020B0600000101010101" pitchFamily="50" charset="-127"/>
            </a:endParaRPr>
          </a:p>
        </p:txBody>
      </p:sp>
      <p:sp>
        <p:nvSpPr>
          <p:cNvPr id="26" name="Text Box 22">
            <a:extLst>
              <a:ext uri="{FF2B5EF4-FFF2-40B4-BE49-F238E27FC236}">
                <a16:creationId xmlns:a16="http://schemas.microsoft.com/office/drawing/2014/main" id="{0A503ADC-8EA4-4A95-9C09-007B0C087CBB}"/>
              </a:ext>
            </a:extLst>
          </p:cNvPr>
          <p:cNvSpPr txBox="1">
            <a:spLocks noChangeArrowheads="1"/>
          </p:cNvSpPr>
          <p:nvPr/>
        </p:nvSpPr>
        <p:spPr bwMode="auto">
          <a:xfrm>
            <a:off x="81623" y="2168612"/>
            <a:ext cx="2193527" cy="23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0" rIns="90000" bIns="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Char char="l"/>
              <a:tabLst/>
              <a:defRPr/>
            </a:pPr>
            <a:r>
              <a:rPr kumimoji="1" lang="ko-KR" altLang="en-US"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 </a:t>
            </a:r>
            <a:r>
              <a:rPr kumimoji="1" lang="es-419"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PHENOMENON</a:t>
            </a:r>
            <a:endParaRPr kumimoji="1" lang="en-US"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37" name="Text Box 22">
            <a:extLst>
              <a:ext uri="{FF2B5EF4-FFF2-40B4-BE49-F238E27FC236}">
                <a16:creationId xmlns:a16="http://schemas.microsoft.com/office/drawing/2014/main" id="{73F804E7-6ED1-4161-8C22-4CB1C70ED8FD}"/>
              </a:ext>
            </a:extLst>
          </p:cNvPr>
          <p:cNvSpPr txBox="1">
            <a:spLocks noChangeArrowheads="1"/>
          </p:cNvSpPr>
          <p:nvPr/>
        </p:nvSpPr>
        <p:spPr bwMode="auto">
          <a:xfrm>
            <a:off x="3207354" y="2168612"/>
            <a:ext cx="3355704" cy="23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0" rIns="90000" bIns="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Char char="l"/>
              <a:tabLst/>
              <a:defRPr/>
            </a:pPr>
            <a:r>
              <a:rPr kumimoji="1" lang="es-419" altLang="ko-KR" sz="1300" b="1" i="0" u="none" strike="noStrike" kern="1200" cap="none" spc="-50" normalizeH="0" baseline="0" noProof="0" dirty="0" smtClean="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IMPROVEMENTS</a:t>
            </a:r>
            <a:endParaRPr kumimoji="1" lang="ko-KR" altLang="en-US" sz="1300" b="1" i="0" u="none" strike="noStrike" kern="1200" cap="none" spc="-5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47" name="Text Box 22">
            <a:extLst>
              <a:ext uri="{FF2B5EF4-FFF2-40B4-BE49-F238E27FC236}">
                <a16:creationId xmlns:a16="http://schemas.microsoft.com/office/drawing/2014/main" id="{018B34FB-86FD-426E-BD3D-63EF79032291}"/>
              </a:ext>
            </a:extLst>
          </p:cNvPr>
          <p:cNvSpPr txBox="1">
            <a:spLocks noChangeArrowheads="1"/>
          </p:cNvSpPr>
          <p:nvPr/>
        </p:nvSpPr>
        <p:spPr bwMode="auto">
          <a:xfrm>
            <a:off x="136588" y="2433268"/>
            <a:ext cx="3136204"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171450" indent="-171450" defTabSz="914400" latinLnBrk="1">
              <a:buFontTx/>
              <a:buChar char="-"/>
              <a:defRPr/>
            </a:pPr>
            <a:r>
              <a:rPr kumimoji="0" lang="en-US" altLang="ko-KR" sz="1100" dirty="0">
                <a:latin typeface="LG스마트체 Regular" panose="020B0600000101010101" pitchFamily="50" charset="-127"/>
                <a:ea typeface="LG스마트체 Regular" panose="020B0600000101010101" pitchFamily="50" charset="-127"/>
              </a:rPr>
              <a:t>Constant conflicts due to late requests for raw materials from the warehouse, as well as late responses from the warehouse when there is a lack of stock.</a:t>
            </a:r>
          </a:p>
        </p:txBody>
      </p:sp>
      <p:sp>
        <p:nvSpPr>
          <p:cNvPr id="100" name="Text Box 22">
            <a:extLst>
              <a:ext uri="{FF2B5EF4-FFF2-40B4-BE49-F238E27FC236}">
                <a16:creationId xmlns:a16="http://schemas.microsoft.com/office/drawing/2014/main" id="{281CC93F-E659-4A34-B26F-E7FDC768FBC1}"/>
              </a:ext>
            </a:extLst>
          </p:cNvPr>
          <p:cNvSpPr txBox="1">
            <a:spLocks noChangeArrowheads="1"/>
          </p:cNvSpPr>
          <p:nvPr/>
        </p:nvSpPr>
        <p:spPr bwMode="auto">
          <a:xfrm>
            <a:off x="7071374" y="2286753"/>
            <a:ext cx="2744430" cy="132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defPPr>
              <a:defRPr lang="en-US"/>
            </a:defPPr>
            <a:lvl1pPr algn="just" eaLnBrk="0" hangingPunct="0">
              <a:defRPr kumimoji="1" sz="110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defRPr>
            </a:lvl1pPr>
            <a:lvl2pPr marL="742950" indent="-285750" eaLnBrk="0" hangingPunct="0">
              <a:defRPr kumimoji="1">
                <a:latin typeface="굴림" pitchFamily="50" charset="-127"/>
                <a:ea typeface="굴림" pitchFamily="50" charset="-127"/>
              </a:defRPr>
            </a:lvl2pPr>
            <a:lvl3pPr marL="1143000" indent="-228600" eaLnBrk="0" hangingPunct="0">
              <a:defRPr kumimoji="1">
                <a:latin typeface="굴림" pitchFamily="50" charset="-127"/>
                <a:ea typeface="굴림" pitchFamily="50" charset="-127"/>
              </a:defRPr>
            </a:lvl3pPr>
            <a:lvl4pPr marL="1600200" indent="-228600" eaLnBrk="0" hangingPunct="0">
              <a:defRPr kumimoji="1">
                <a:latin typeface="굴림" pitchFamily="50" charset="-127"/>
                <a:ea typeface="굴림" pitchFamily="50" charset="-127"/>
              </a:defRPr>
            </a:lvl4pPr>
            <a:lvl5pPr marL="2057400" indent="-228600" eaLnBrk="0" hangingPunct="0">
              <a:defRPr kumimoji="1">
                <a:latin typeface="굴림" pitchFamily="50" charset="-127"/>
                <a:ea typeface="굴림" pitchFamily="50" charset="-127"/>
              </a:defRPr>
            </a:lvl5pPr>
            <a:lvl6pPr marL="2514600" indent="-228600" eaLnBrk="0" fontAlgn="base" hangingPunct="0">
              <a:spcBef>
                <a:spcPct val="0"/>
              </a:spcBef>
              <a:spcAft>
                <a:spcPct val="0"/>
              </a:spcAft>
              <a:defRPr kumimoji="1">
                <a:latin typeface="굴림" pitchFamily="50" charset="-127"/>
                <a:ea typeface="굴림" pitchFamily="50" charset="-127"/>
              </a:defRPr>
            </a:lvl6pPr>
            <a:lvl7pPr marL="2971800" indent="-228600" eaLnBrk="0" fontAlgn="base" hangingPunct="0">
              <a:spcBef>
                <a:spcPct val="0"/>
              </a:spcBef>
              <a:spcAft>
                <a:spcPct val="0"/>
              </a:spcAft>
              <a:defRPr kumimoji="1">
                <a:latin typeface="굴림" pitchFamily="50" charset="-127"/>
                <a:ea typeface="굴림" pitchFamily="50" charset="-127"/>
              </a:defRPr>
            </a:lvl7pPr>
            <a:lvl8pPr marL="3429000" indent="-228600" eaLnBrk="0" fontAlgn="base" hangingPunct="0">
              <a:spcBef>
                <a:spcPct val="0"/>
              </a:spcBef>
              <a:spcAft>
                <a:spcPct val="0"/>
              </a:spcAft>
              <a:defRPr kumimoji="1">
                <a:latin typeface="굴림" pitchFamily="50" charset="-127"/>
                <a:ea typeface="굴림" pitchFamily="50" charset="-127"/>
              </a:defRPr>
            </a:lvl8pPr>
            <a:lvl9pPr marL="3886200" indent="-228600" eaLnBrk="0" fontAlgn="base" hangingPunct="0">
              <a:spcBef>
                <a:spcPct val="0"/>
              </a:spcBef>
              <a:spcAft>
                <a:spcPct val="0"/>
              </a:spcAft>
              <a:defRPr kumimoji="1">
                <a:latin typeface="굴림" pitchFamily="50" charset="-127"/>
                <a:ea typeface="굴림" pitchFamily="50" charset="-127"/>
              </a:defRPr>
            </a:lvl9pPr>
          </a:lstStyle>
          <a:p>
            <a:r>
              <a:rPr lang="ko-KR" altLang="es-MX" sz="1400" b="1" dirty="0"/>
              <a:t> </a:t>
            </a:r>
            <a:r>
              <a:rPr lang="es-419" altLang="ko-KR" sz="1400" b="1" dirty="0" smtClean="0"/>
              <a:t>EFFECT:</a:t>
            </a:r>
            <a:endParaRPr lang="es-419" altLang="ko-KR" sz="1400" b="1" dirty="0"/>
          </a:p>
          <a:p>
            <a:pPr marL="171450" indent="-171450">
              <a:buFont typeface="Arial" panose="020B0604020202020204" pitchFamily="34" charset="0"/>
              <a:buChar char="•"/>
            </a:pPr>
            <a:r>
              <a:rPr lang="en-US" altLang="ko-KR" dirty="0"/>
              <a:t>Likewise, we pressure the warehouse to maintain the necessary stock of critical materials for production, as well as to provide us with information on stock shortages or the release of materials by quality control.</a:t>
            </a:r>
            <a:endParaRPr lang="ko-KR" altLang="en-US" dirty="0"/>
          </a:p>
        </p:txBody>
      </p:sp>
      <p:graphicFrame>
        <p:nvGraphicFramePr>
          <p:cNvPr id="104" name="표 103">
            <a:extLst>
              <a:ext uri="{FF2B5EF4-FFF2-40B4-BE49-F238E27FC236}">
                <a16:creationId xmlns:a16="http://schemas.microsoft.com/office/drawing/2014/main" id="{7217E0C3-3242-462A-86FE-317BCFA54321}"/>
              </a:ext>
            </a:extLst>
          </p:cNvPr>
          <p:cNvGraphicFramePr>
            <a:graphicFrameLocks noGrp="1"/>
          </p:cNvGraphicFramePr>
          <p:nvPr/>
        </p:nvGraphicFramePr>
        <p:xfrm>
          <a:off x="8802980" y="1466757"/>
          <a:ext cx="1012824" cy="350520"/>
        </p:xfrm>
        <a:graphic>
          <a:graphicData uri="http://schemas.openxmlformats.org/drawingml/2006/table">
            <a:tbl>
              <a:tblPr firstRow="1" bandRow="1">
                <a:tableStyleId>{5940675A-B579-460E-94D1-54222C63F5DA}</a:tableStyleId>
              </a:tblPr>
              <a:tblGrid>
                <a:gridCol w="337608">
                  <a:extLst>
                    <a:ext uri="{9D8B030D-6E8A-4147-A177-3AD203B41FA5}">
                      <a16:colId xmlns:a16="http://schemas.microsoft.com/office/drawing/2014/main" val="20000"/>
                    </a:ext>
                  </a:extLst>
                </a:gridCol>
                <a:gridCol w="337608">
                  <a:extLst>
                    <a:ext uri="{9D8B030D-6E8A-4147-A177-3AD203B41FA5}">
                      <a16:colId xmlns:a16="http://schemas.microsoft.com/office/drawing/2014/main" val="20001"/>
                    </a:ext>
                  </a:extLst>
                </a:gridCol>
                <a:gridCol w="337608">
                  <a:extLst>
                    <a:ext uri="{9D8B030D-6E8A-4147-A177-3AD203B41FA5}">
                      <a16:colId xmlns:a16="http://schemas.microsoft.com/office/drawing/2014/main" val="20002"/>
                    </a:ext>
                  </a:extLst>
                </a:gridCol>
              </a:tblGrid>
              <a:tr h="78192">
                <a:tc gridSpan="3">
                  <a:txBody>
                    <a:bodyPr/>
                    <a:lstStyle/>
                    <a:p>
                      <a:pPr algn="ctr" latinLnBrk="1">
                        <a:lnSpc>
                          <a:spcPct val="100000"/>
                        </a:lnSpc>
                      </a:pPr>
                      <a:r>
                        <a:rPr lang="en-US" altLang="ko-KR" sz="700" b="1" kern="900" spc="0" baseline="0" dirty="0">
                          <a:solidFill>
                            <a:srgbClr val="0000FF"/>
                          </a:solidFill>
                          <a:latin typeface="Arial Narrow" panose="020B0606020202030204" pitchFamily="34" charset="0"/>
                          <a:ea typeface="LG스마트체 Regular" panose="020B0600000101010101" pitchFamily="50" charset="-127"/>
                        </a:rPr>
                        <a:t>DX Level</a:t>
                      </a:r>
                      <a:r>
                        <a:rPr lang="ko-KR" altLang="en-US" sz="700" b="1" kern="900" spc="0" baseline="0" dirty="0">
                          <a:solidFill>
                            <a:srgbClr val="0000FF"/>
                          </a:solidFill>
                          <a:latin typeface="Arial Narrow" panose="020B0606020202030204" pitchFamily="34" charset="0"/>
                          <a:ea typeface="LG스마트체 Regular" panose="020B0600000101010101" pitchFamily="50" charset="-127"/>
                        </a:rPr>
                        <a:t> 구분</a:t>
                      </a:r>
                    </a:p>
                  </a:txBody>
                  <a:tcPr marL="0" marR="0" marT="0" marB="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hMerge="1">
                  <a:txBody>
                    <a:bodyPr/>
                    <a:lstStyle/>
                    <a:p>
                      <a:pPr algn="ctr" latinLnBrk="1"/>
                      <a:endParaRPr lang="ko-KR" altLang="en-US" sz="700" b="1" kern="900"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latinLnBrk="1"/>
                      <a:endParaRPr lang="ko-KR" altLang="en-US" sz="700" b="1" kern="900"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78442">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rPr>
                        <a:t>A2D</a:t>
                      </a:r>
                    </a:p>
                  </a:txBody>
                  <a:tcPr marL="0" marR="0" marT="0" marB="0" anchor="ctr">
                    <a:lnL w="9525" cap="flat" cmpd="sng" algn="ctr">
                      <a:solidFill>
                        <a:schemeClr val="tx1">
                          <a:lumMod val="65000"/>
                          <a:lumOff val="3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정보화</a:t>
                      </a:r>
                      <a:endParaRPr kumimoji="0" lang="en-US" altLang="ko-KR"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지능화</a:t>
                      </a:r>
                      <a:endParaRPr kumimoji="0" lang="en-US" altLang="ko-KR"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96847">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05" name="표 104">
            <a:extLst>
              <a:ext uri="{FF2B5EF4-FFF2-40B4-BE49-F238E27FC236}">
                <a16:creationId xmlns:a16="http://schemas.microsoft.com/office/drawing/2014/main" id="{275A48A6-063A-4695-8225-5094514F8224}"/>
              </a:ext>
            </a:extLst>
          </p:cNvPr>
          <p:cNvGraphicFramePr>
            <a:graphicFrameLocks noGrp="1"/>
          </p:cNvGraphicFramePr>
          <p:nvPr/>
        </p:nvGraphicFramePr>
        <p:xfrm>
          <a:off x="8807451" y="560208"/>
          <a:ext cx="1012827" cy="950688"/>
        </p:xfrm>
        <a:graphic>
          <a:graphicData uri="http://schemas.openxmlformats.org/drawingml/2006/table">
            <a:tbl>
              <a:tblPr firstRow="1" bandRow="1">
                <a:tableStyleId>{5940675A-B579-460E-94D1-54222C63F5DA}</a:tableStyleId>
              </a:tblPr>
              <a:tblGrid>
                <a:gridCol w="431799">
                  <a:extLst>
                    <a:ext uri="{9D8B030D-6E8A-4147-A177-3AD203B41FA5}">
                      <a16:colId xmlns:a16="http://schemas.microsoft.com/office/drawing/2014/main" val="20000"/>
                    </a:ext>
                  </a:extLst>
                </a:gridCol>
                <a:gridCol w="290514">
                  <a:extLst>
                    <a:ext uri="{9D8B030D-6E8A-4147-A177-3AD203B41FA5}">
                      <a16:colId xmlns:a16="http://schemas.microsoft.com/office/drawing/2014/main" val="20001"/>
                    </a:ext>
                  </a:extLst>
                </a:gridCol>
                <a:gridCol w="290514">
                  <a:extLst>
                    <a:ext uri="{9D8B030D-6E8A-4147-A177-3AD203B41FA5}">
                      <a16:colId xmlns:a16="http://schemas.microsoft.com/office/drawing/2014/main" val="20002"/>
                    </a:ext>
                  </a:extLst>
                </a:gridCol>
              </a:tblGrid>
              <a:tr h="184856">
                <a:tc>
                  <a:txBody>
                    <a:bodyPr/>
                    <a:lstStyle/>
                    <a:p>
                      <a:pPr algn="ctr" latinLnBrk="1">
                        <a:lnSpc>
                          <a:spcPct val="80000"/>
                        </a:lnSpc>
                      </a:pPr>
                      <a:r>
                        <a:rPr lang="ko-KR" altLang="en-US" sz="700" b="1" kern="900" spc="0" baseline="0" dirty="0">
                          <a:solidFill>
                            <a:schemeClr val="tx1"/>
                          </a:solidFill>
                          <a:latin typeface="Arial Narrow" panose="020B0606020202030204" pitchFamily="34" charset="0"/>
                          <a:ea typeface="LG스마트체 Regular" panose="020B0600000101010101" pitchFamily="50" charset="-127"/>
                        </a:rPr>
                        <a:t>개선 영역</a:t>
                      </a:r>
                      <a:endParaRPr lang="en-US" altLang="ko-KR" sz="700" b="1" kern="900" spc="0" baseline="0" dirty="0">
                        <a:solidFill>
                          <a:schemeClr val="tx1"/>
                        </a:solidFill>
                        <a:latin typeface="Arial Narrow" panose="020B0606020202030204" pitchFamily="34" charset="0"/>
                        <a:ea typeface="LG스마트체 Regular" panose="020B0600000101010101" pitchFamily="50" charset="-127"/>
                      </a:endParaRPr>
                    </a:p>
                  </a:txBody>
                  <a:tcPr marL="0" marR="0" marT="1800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algn="ctr" latinLnBrk="1">
                        <a:lnSpc>
                          <a:spcPct val="80000"/>
                        </a:lnSpc>
                      </a:pPr>
                      <a:r>
                        <a:rPr lang="en-US" altLang="ko-KR" sz="700" b="1" kern="900" spc="-30" baseline="0" dirty="0">
                          <a:solidFill>
                            <a:schemeClr val="tx1"/>
                          </a:solidFill>
                          <a:latin typeface="Arial Narrow" panose="020B0606020202030204" pitchFamily="34" charset="0"/>
                          <a:ea typeface="LG스마트체 Regular" panose="020B0600000101010101" pitchFamily="50" charset="-127"/>
                        </a:rPr>
                        <a:t>Analog</a:t>
                      </a:r>
                      <a:br>
                        <a:rPr lang="en-US" altLang="ko-KR" sz="700" b="1" kern="900" spc="-30" baseline="0" dirty="0">
                          <a:solidFill>
                            <a:schemeClr val="tx1"/>
                          </a:solidFill>
                          <a:latin typeface="Arial Narrow" panose="020B0606020202030204" pitchFamily="34" charset="0"/>
                          <a:ea typeface="LG스마트체 Regular" panose="020B0600000101010101" pitchFamily="50" charset="-127"/>
                        </a:rPr>
                      </a:br>
                      <a:r>
                        <a:rPr lang="en-US" altLang="ko-KR" sz="700" b="1" kern="900" spc="-30" baseline="0" dirty="0">
                          <a:solidFill>
                            <a:schemeClr val="tx1"/>
                          </a:solidFill>
                          <a:latin typeface="Arial Narrow" panose="020B0606020202030204" pitchFamily="34" charset="0"/>
                          <a:ea typeface="LG스마트체 Regular" panose="020B0600000101010101" pitchFamily="50" charset="-127"/>
                        </a:rPr>
                        <a:t>BP</a:t>
                      </a:r>
                      <a:endParaRPr lang="ko-KR" altLang="en-US" sz="700" b="1" kern="900" spc="-30" baseline="0" dirty="0">
                        <a:solidFill>
                          <a:schemeClr val="tx1"/>
                        </a:solidFill>
                        <a:latin typeface="Arial Narrow" panose="020B0606020202030204" pitchFamily="34" charset="0"/>
                        <a:ea typeface="LG스마트체 Regular" panose="020B0600000101010101" pitchFamily="50" charset="-127"/>
                      </a:endParaRPr>
                    </a:p>
                  </a:txBody>
                  <a:tcPr marL="0" marR="0" marT="1800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algn="ctr" latinLnBrk="1">
                        <a:lnSpc>
                          <a:spcPct val="80000"/>
                        </a:lnSpc>
                      </a:pPr>
                      <a:r>
                        <a:rPr lang="en-US" altLang="ko-KR" sz="700" b="1" kern="900" spc="-30" baseline="0" dirty="0">
                          <a:solidFill>
                            <a:srgbClr val="0000FF"/>
                          </a:solidFill>
                          <a:latin typeface="Arial Narrow" panose="020B0606020202030204" pitchFamily="34" charset="0"/>
                          <a:ea typeface="LG스마트체 Regular" panose="020B0600000101010101" pitchFamily="50" charset="-127"/>
                        </a:rPr>
                        <a:t>DX</a:t>
                      </a:r>
                      <a:br>
                        <a:rPr lang="en-US" altLang="ko-KR" sz="700" b="1" kern="900" spc="-30" baseline="0" dirty="0">
                          <a:solidFill>
                            <a:srgbClr val="0000FF"/>
                          </a:solidFill>
                          <a:latin typeface="Arial Narrow" panose="020B0606020202030204" pitchFamily="34" charset="0"/>
                          <a:ea typeface="LG스마트체 Regular" panose="020B0600000101010101" pitchFamily="50" charset="-127"/>
                        </a:rPr>
                      </a:br>
                      <a:r>
                        <a:rPr lang="en-US" altLang="ko-KR" sz="700" b="1" kern="900" spc="-30" baseline="0" dirty="0">
                          <a:solidFill>
                            <a:srgbClr val="0000FF"/>
                          </a:solidFill>
                          <a:latin typeface="Arial Narrow" panose="020B0606020202030204" pitchFamily="34" charset="0"/>
                          <a:ea typeface="LG스마트체 Regular" panose="020B0600000101010101" pitchFamily="50" charset="-127"/>
                        </a:rPr>
                        <a:t>BP</a:t>
                      </a:r>
                      <a:endParaRPr lang="ko-KR" altLang="en-US" sz="700" b="1" kern="900" spc="-30" baseline="0" dirty="0">
                        <a:solidFill>
                          <a:srgbClr val="0000FF"/>
                        </a:solidFill>
                        <a:latin typeface="Arial Narrow" panose="020B0606020202030204" pitchFamily="34" charset="0"/>
                        <a:ea typeface="LG스마트체 Regular" panose="020B0600000101010101" pitchFamily="50" charset="-127"/>
                      </a:endParaRPr>
                    </a:p>
                  </a:txBody>
                  <a:tcPr marL="0" marR="0" marT="1800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dirty="0">
                          <a:solidFill>
                            <a:schemeClr val="tx1"/>
                          </a:solidFill>
                          <a:effectLst/>
                          <a:latin typeface="Arial Narrow" panose="020B0606020202030204" pitchFamily="34" charset="0"/>
                          <a:ea typeface="LG스마트체 Regular" panose="020B0600000101010101" pitchFamily="50" charset="-127"/>
                        </a:rPr>
                        <a:t>이물</a:t>
                      </a:r>
                      <a:r>
                        <a:rPr lang="en-US" altLang="ko-KR" sz="700" b="1" i="0" u="none" strike="noStrike" dirty="0">
                          <a:solidFill>
                            <a:schemeClr val="tx1"/>
                          </a:solidFill>
                          <a:effectLst/>
                          <a:latin typeface="Arial Narrow" panose="020B0606020202030204" pitchFamily="34" charset="0"/>
                          <a:ea typeface="LG스마트체 Regular" panose="020B0600000101010101" pitchFamily="50" charset="-127"/>
                        </a:rPr>
                        <a:t>/</a:t>
                      </a:r>
                      <a:r>
                        <a:rPr lang="ko-KR" altLang="en-US" sz="700" b="1" i="0" u="none" strike="noStrike" dirty="0">
                          <a:solidFill>
                            <a:schemeClr val="tx1"/>
                          </a:solidFill>
                          <a:effectLst/>
                          <a:latin typeface="Arial Narrow" panose="020B0606020202030204" pitchFamily="34" charset="0"/>
                          <a:ea typeface="LG스마트체 Regular" panose="020B0600000101010101" pitchFamily="50" charset="-127"/>
                        </a:rPr>
                        <a:t>생산성</a:t>
                      </a:r>
                      <a:endParaRPr lang="en-US" altLang="ko-KR" sz="700" b="1"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성능</a:t>
                      </a:r>
                      <a:r>
                        <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rPr>
                        <a:t>/</a:t>
                      </a: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품질</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프로세스</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11883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안전환경</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5"/>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고객가치</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11280698"/>
                  </a:ext>
                </a:extLst>
              </a:tr>
            </a:tbl>
          </a:graphicData>
        </a:graphic>
      </p:graphicFrame>
      <p:graphicFrame>
        <p:nvGraphicFramePr>
          <p:cNvPr id="106" name="표 105">
            <a:extLst>
              <a:ext uri="{FF2B5EF4-FFF2-40B4-BE49-F238E27FC236}">
                <a16:creationId xmlns:a16="http://schemas.microsoft.com/office/drawing/2014/main" id="{01739F50-273D-88B9-0185-931B6BCAB9B7}"/>
              </a:ext>
            </a:extLst>
          </p:cNvPr>
          <p:cNvGraphicFramePr>
            <a:graphicFrameLocks noGrp="1"/>
          </p:cNvGraphicFramePr>
          <p:nvPr/>
        </p:nvGraphicFramePr>
        <p:xfrm>
          <a:off x="7090565" y="28296"/>
          <a:ext cx="1658127" cy="259080"/>
        </p:xfrm>
        <a:graphic>
          <a:graphicData uri="http://schemas.openxmlformats.org/drawingml/2006/table">
            <a:tbl>
              <a:tblPr firstRow="1" bandRow="1">
                <a:tableStyleId>{5940675A-B579-460E-94D1-54222C63F5DA}</a:tableStyleId>
              </a:tblPr>
              <a:tblGrid>
                <a:gridCol w="192124">
                  <a:extLst>
                    <a:ext uri="{9D8B030D-6E8A-4147-A177-3AD203B41FA5}">
                      <a16:colId xmlns:a16="http://schemas.microsoft.com/office/drawing/2014/main" val="20000"/>
                    </a:ext>
                  </a:extLst>
                </a:gridCol>
                <a:gridCol w="209429">
                  <a:extLst>
                    <a:ext uri="{9D8B030D-6E8A-4147-A177-3AD203B41FA5}">
                      <a16:colId xmlns:a16="http://schemas.microsoft.com/office/drawing/2014/main" val="20001"/>
                    </a:ext>
                  </a:extLst>
                </a:gridCol>
                <a:gridCol w="209429">
                  <a:extLst>
                    <a:ext uri="{9D8B030D-6E8A-4147-A177-3AD203B41FA5}">
                      <a16:colId xmlns:a16="http://schemas.microsoft.com/office/drawing/2014/main" val="20002"/>
                    </a:ext>
                  </a:extLst>
                </a:gridCol>
                <a:gridCol w="209429">
                  <a:extLst>
                    <a:ext uri="{9D8B030D-6E8A-4147-A177-3AD203B41FA5}">
                      <a16:colId xmlns:a16="http://schemas.microsoft.com/office/drawing/2014/main" val="20003"/>
                    </a:ext>
                  </a:extLst>
                </a:gridCol>
                <a:gridCol w="209429">
                  <a:extLst>
                    <a:ext uri="{9D8B030D-6E8A-4147-A177-3AD203B41FA5}">
                      <a16:colId xmlns:a16="http://schemas.microsoft.com/office/drawing/2014/main" val="20004"/>
                    </a:ext>
                  </a:extLst>
                </a:gridCol>
                <a:gridCol w="209429">
                  <a:extLst>
                    <a:ext uri="{9D8B030D-6E8A-4147-A177-3AD203B41FA5}">
                      <a16:colId xmlns:a16="http://schemas.microsoft.com/office/drawing/2014/main" val="20005"/>
                    </a:ext>
                  </a:extLst>
                </a:gridCol>
                <a:gridCol w="209429">
                  <a:extLst>
                    <a:ext uri="{9D8B030D-6E8A-4147-A177-3AD203B41FA5}">
                      <a16:colId xmlns:a16="http://schemas.microsoft.com/office/drawing/2014/main" val="20006"/>
                    </a:ext>
                  </a:extLst>
                </a:gridCol>
                <a:gridCol w="209429">
                  <a:extLst>
                    <a:ext uri="{9D8B030D-6E8A-4147-A177-3AD203B41FA5}">
                      <a16:colId xmlns:a16="http://schemas.microsoft.com/office/drawing/2014/main" val="20007"/>
                    </a:ext>
                  </a:extLst>
                </a:gridCol>
              </a:tblGrid>
              <a:tr h="0">
                <a:tc rowSpan="2">
                  <a:txBody>
                    <a:bodyPr/>
                    <a:lstStyle/>
                    <a:p>
                      <a:pPr algn="l" latinLnBrk="1"/>
                      <a:r>
                        <a:rPr lang="ko-KR" altLang="en-US" sz="800" b="1" spc="-100" baseline="0" dirty="0">
                          <a:latin typeface="Arial Narrow" panose="020B0606020202030204" pitchFamily="34" charset="0"/>
                          <a:ea typeface="LG스마트체 Regular" panose="020B0600000101010101" pitchFamily="50" charset="-127"/>
                        </a:rPr>
                        <a:t>전파</a:t>
                      </a:r>
                      <a:endParaRPr lang="en-US" altLang="ko-KR" sz="800" b="1"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광학 </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기판</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전장</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1" kern="900" spc="-100" baseline="0" dirty="0">
                          <a:latin typeface="Arial Narrow" panose="020B0606020202030204" pitchFamily="34" charset="0"/>
                          <a:ea typeface="LG스마트체 Regular" panose="020B0600000101010101" pitchFamily="50" charset="-127"/>
                        </a:rPr>
                        <a:t>CTO</a:t>
                      </a:r>
                      <a:endParaRPr lang="ko-KR" altLang="en-US" sz="800" b="1" kern="900"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전자</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생기</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품질</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0">
                <a:tc vMerge="1">
                  <a:txBody>
                    <a:bodyPr/>
                    <a:lstStyle/>
                    <a:p>
                      <a:pPr algn="ctr" latinLnBrk="1"/>
                      <a:endParaRPr lang="ko-KR" altLang="en-US" sz="1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900" b="0" i="0" u="none" strike="noStrike" spc="-100" baseline="0" dirty="0">
                          <a:solidFill>
                            <a:srgbClr val="000000"/>
                          </a:solidFill>
                          <a:effectLst/>
                          <a:latin typeface="Arial Narrow" panose="020B0606020202030204" pitchFamily="34" charset="0"/>
                          <a:ea typeface="LG스마트체 Regular" panose="020B0600000101010101" pitchFamily="50" charset="-127"/>
                        </a:rPr>
                        <a:t>○</a:t>
                      </a:r>
                      <a:endParaRPr lang="en-US" altLang="ko-KR" sz="900" b="0" i="0" u="none" strike="noStrike" spc="-100"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X</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X</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48" name="Text Box 22">
            <a:extLst>
              <a:ext uri="{FF2B5EF4-FFF2-40B4-BE49-F238E27FC236}">
                <a16:creationId xmlns:a16="http://schemas.microsoft.com/office/drawing/2014/main" id="{4943835B-8DA4-4869-8C18-DA8250B68444}"/>
              </a:ext>
            </a:extLst>
          </p:cNvPr>
          <p:cNvSpPr txBox="1">
            <a:spLocks noChangeArrowheads="1"/>
          </p:cNvSpPr>
          <p:nvPr/>
        </p:nvSpPr>
        <p:spPr bwMode="auto">
          <a:xfrm>
            <a:off x="150857" y="4444213"/>
            <a:ext cx="2193527" cy="23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0" rIns="90000" bIns="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Char char="l"/>
              <a:tabLst/>
              <a:defRPr/>
            </a:pPr>
            <a:r>
              <a:rPr kumimoji="1" lang="ko-KR" altLang="en-US"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 </a:t>
            </a:r>
            <a:r>
              <a:rPr kumimoji="1" lang="es-419" altLang="ko-KR" sz="1300" b="1" i="0" u="none" strike="noStrike" kern="1200" cap="none" spc="0" normalizeH="0" baseline="0" noProof="0" dirty="0" smtClean="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PROBLEM</a:t>
            </a:r>
            <a:endParaRPr kumimoji="1" lang="en-US"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51" name="직사각형 50">
            <a:extLst>
              <a:ext uri="{FF2B5EF4-FFF2-40B4-BE49-F238E27FC236}">
                <a16:creationId xmlns:a16="http://schemas.microsoft.com/office/drawing/2014/main" id="{F114F125-DEDC-4A5E-83D0-32A8D040BE99}"/>
              </a:ext>
            </a:extLst>
          </p:cNvPr>
          <p:cNvSpPr/>
          <p:nvPr/>
        </p:nvSpPr>
        <p:spPr>
          <a:xfrm>
            <a:off x="8543390" y="3093457"/>
            <a:ext cx="600604" cy="406647"/>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ko-KR" sz="1100" b="1" i="0" u="none" strike="noStrike" kern="0" cap="none" spc="0" normalizeH="0" baseline="0" noProof="0" dirty="0">
              <a:ln>
                <a:noFill/>
              </a:ln>
              <a:solidFill>
                <a:prstClr val="black">
                  <a:lumMod val="95000"/>
                  <a:lumOff val="5000"/>
                </a:prstClr>
              </a:solidFill>
              <a:effectLst/>
              <a:uLnTx/>
              <a:uFillTx/>
              <a:latin typeface="LG스마트체 Regular" panose="020B0600000101010101" pitchFamily="50" charset="-127"/>
              <a:ea typeface="LG스마트체 Regular" panose="020B0600000101010101" pitchFamily="50" charset="-127"/>
            </a:endParaRPr>
          </a:p>
        </p:txBody>
      </p:sp>
      <p:sp>
        <p:nvSpPr>
          <p:cNvPr id="63" name="Text Box 22">
            <a:extLst>
              <a:ext uri="{FF2B5EF4-FFF2-40B4-BE49-F238E27FC236}">
                <a16:creationId xmlns:a16="http://schemas.microsoft.com/office/drawing/2014/main" id="{8287475F-9343-43DB-A22C-AE7C32D6CF16}"/>
              </a:ext>
            </a:extLst>
          </p:cNvPr>
          <p:cNvSpPr txBox="1">
            <a:spLocks noChangeArrowheads="1"/>
          </p:cNvSpPr>
          <p:nvPr/>
        </p:nvSpPr>
        <p:spPr bwMode="auto">
          <a:xfrm>
            <a:off x="3329853" y="2469063"/>
            <a:ext cx="3613965" cy="602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algn="just">
              <a:defRPr/>
            </a:pP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Development of a Raw Material calculator based on the production plan and hourly capacity of each of the areas and models in the camera line.</a:t>
            </a:r>
          </a:p>
        </p:txBody>
      </p:sp>
      <p:sp>
        <p:nvSpPr>
          <p:cNvPr id="46" name="Text Box 22">
            <a:extLst>
              <a:ext uri="{FF2B5EF4-FFF2-40B4-BE49-F238E27FC236}">
                <a16:creationId xmlns:a16="http://schemas.microsoft.com/office/drawing/2014/main" id="{FDA1CAA0-6C50-4F01-AABF-43A416B5039F}"/>
              </a:ext>
            </a:extLst>
          </p:cNvPr>
          <p:cNvSpPr txBox="1">
            <a:spLocks noChangeArrowheads="1"/>
          </p:cNvSpPr>
          <p:nvPr/>
        </p:nvSpPr>
        <p:spPr bwMode="auto">
          <a:xfrm>
            <a:off x="136588" y="4753587"/>
            <a:ext cx="3136204" cy="144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defTabSz="914400" latinLnBrk="1">
              <a:defRPr/>
            </a:pP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The production of materials is complicated because the production plan is constantly changing.</a:t>
            </a:r>
          </a:p>
          <a:p>
            <a:pPr defTabSz="914400" latinLnBrk="1">
              <a:defRPr/>
            </a:pPr>
            <a:endPar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endParaRPr>
          </a:p>
          <a:p>
            <a:pPr defTabSz="914400" latinLnBrk="1">
              <a:defRPr/>
            </a:pP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Furthermore, the warehouse does not have a </a:t>
            </a:r>
            <a:r>
              <a:rPr lang="en-US" altLang="ko-KR" sz="1100" dirty="0" err="1">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kanban</a:t>
            </a: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 system for materials within its area, which leads to a lack of knowledge about its stocks.</a:t>
            </a:r>
          </a:p>
        </p:txBody>
      </p:sp>
      <p:sp>
        <p:nvSpPr>
          <p:cNvPr id="8" name="TextBox 7">
            <a:extLst>
              <a:ext uri="{FF2B5EF4-FFF2-40B4-BE49-F238E27FC236}">
                <a16:creationId xmlns:a16="http://schemas.microsoft.com/office/drawing/2014/main" id="{3C2C7A66-96E5-67E7-0D50-F80DB89DD3EB}"/>
              </a:ext>
            </a:extLst>
          </p:cNvPr>
          <p:cNvSpPr txBox="1"/>
          <p:nvPr/>
        </p:nvSpPr>
        <p:spPr>
          <a:xfrm>
            <a:off x="4250616" y="576400"/>
            <a:ext cx="4498076" cy="153888"/>
          </a:xfrm>
          <a:prstGeom prst="rect">
            <a:avLst/>
          </a:prstGeom>
          <a:noFill/>
        </p:spPr>
        <p:txBody>
          <a:bodyPr wrap="square" lIns="0" tIns="0" rIns="0" bIns="0" rtlCol="0">
            <a:spAutoFit/>
          </a:bodyPr>
          <a:lstStyle/>
          <a:p>
            <a:pPr>
              <a:spcAft>
                <a:spcPts val="555"/>
              </a:spcAft>
            </a:pP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Date : </a:t>
            </a:r>
            <a:r>
              <a:rPr lang="es-MX" altLang="ko-KR" sz="1000" b="1" spc="-29" dirty="0">
                <a:latin typeface="Arial Narrow" panose="020B0606020202030204" pitchFamily="34" charset="0"/>
                <a:ea typeface="LG스마트체 Regular" panose="020B0600000101010101" pitchFamily="50" charset="-127"/>
              </a:rPr>
              <a:t>10</a:t>
            </a:r>
            <a:r>
              <a:rPr lang="en-US" altLang="ko-KR" sz="1000" b="1" spc="-29" dirty="0" smtClean="0">
                <a:latin typeface="Arial Narrow" panose="020B0606020202030204" pitchFamily="34" charset="0"/>
                <a:ea typeface="LG스마트체 Regular" panose="020B0600000101010101" pitchFamily="50" charset="-127"/>
              </a:rPr>
              <a:t>/09/2025</a:t>
            </a:r>
            <a:r>
              <a:rPr lang="ko-KR" altLang="en-US" sz="1000" b="1" spc="-29" dirty="0" smtClean="0">
                <a:latin typeface="Arial Narrow" panose="020B0606020202030204" pitchFamily="34" charset="0"/>
                <a:ea typeface="LG스마트체 Regular" panose="020B0600000101010101" pitchFamily="50" charset="-127"/>
              </a:rPr>
              <a:t> </a:t>
            </a: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Writer : </a:t>
            </a:r>
            <a:r>
              <a:rPr lang="es-MX" altLang="ko-KR" sz="1000" spc="-29" dirty="0">
                <a:solidFill>
                  <a:prstClr val="black">
                    <a:lumMod val="65000"/>
                    <a:lumOff val="35000"/>
                  </a:prstClr>
                </a:solidFill>
                <a:latin typeface="Arial Narrow" panose="020B0606020202030204" pitchFamily="34" charset="0"/>
                <a:ea typeface="LG스마트체 Regular" panose="020B0600000101010101" pitchFamily="50" charset="-127"/>
              </a:rPr>
              <a:t>Manuel Oballe Dorantes</a:t>
            </a:r>
            <a:r>
              <a:rPr lang="en-US" altLang="ko-KR" sz="1000" b="1" spc="-29" dirty="0">
                <a:latin typeface="Arial Narrow" panose="020B0606020202030204" pitchFamily="34" charset="0"/>
                <a:ea typeface="LG스마트체 Regular" panose="020B0600000101010101" pitchFamily="50" charset="-127"/>
              </a:rPr>
              <a:t>      </a:t>
            </a: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Division: </a:t>
            </a:r>
            <a:r>
              <a:rPr lang="en-US" altLang="ko-KR" sz="1000" b="1" spc="-29" dirty="0">
                <a:latin typeface="Arial Narrow" panose="020B0606020202030204" pitchFamily="34" charset="0"/>
                <a:ea typeface="LG스마트체 Regular" panose="020B0600000101010101" pitchFamily="50" charset="-127"/>
              </a:rPr>
              <a:t>CM</a:t>
            </a:r>
            <a:r>
              <a:rPr lang="ko-KR" altLang="en-US" sz="1000" b="1" spc="-29" dirty="0">
                <a:latin typeface="Arial Narrow" panose="020B0606020202030204" pitchFamily="34" charset="0"/>
                <a:ea typeface="LG스마트체 Regular" panose="020B0600000101010101" pitchFamily="50" charset="-127"/>
              </a:rPr>
              <a:t>       </a:t>
            </a: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Team:</a:t>
            </a:r>
            <a:r>
              <a:rPr lang="ko-KR" altLang="en-US" sz="1000" spc="-29" dirty="0">
                <a:latin typeface="Arial Narrow" panose="020B0606020202030204" pitchFamily="34" charset="0"/>
                <a:ea typeface="LG스마트체 Regular" panose="020B0600000101010101" pitchFamily="50" charset="-127"/>
              </a:rPr>
              <a:t> </a:t>
            </a:r>
            <a:r>
              <a:rPr lang="en-US" altLang="ko-KR" sz="1000" b="1" spc="-29" dirty="0">
                <a:latin typeface="Arial Narrow" panose="020B0606020202030204" pitchFamily="34" charset="0"/>
                <a:ea typeface="LG스마트체 Regular" panose="020B0600000101010101" pitchFamily="50" charset="-127"/>
              </a:rPr>
              <a:t>Manufacture</a:t>
            </a:r>
          </a:p>
        </p:txBody>
      </p:sp>
      <p:sp>
        <p:nvSpPr>
          <p:cNvPr id="41" name="Text Box 22">
            <a:extLst>
              <a:ext uri="{FF2B5EF4-FFF2-40B4-BE49-F238E27FC236}">
                <a16:creationId xmlns:a16="http://schemas.microsoft.com/office/drawing/2014/main" id="{281CC93F-E659-4A34-B26F-E7FDC768FBC1}"/>
              </a:ext>
            </a:extLst>
          </p:cNvPr>
          <p:cNvSpPr txBox="1">
            <a:spLocks noChangeArrowheads="1"/>
          </p:cNvSpPr>
          <p:nvPr/>
        </p:nvSpPr>
        <p:spPr bwMode="auto">
          <a:xfrm>
            <a:off x="7146757" y="4125280"/>
            <a:ext cx="2410873" cy="2172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defPPr>
              <a:defRPr lang="en-US"/>
            </a:defPPr>
            <a:lvl1pPr algn="just" eaLnBrk="0" hangingPunct="0">
              <a:defRPr kumimoji="1" sz="110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defRPr>
            </a:lvl1pPr>
            <a:lvl2pPr marL="742950" indent="-285750" eaLnBrk="0" hangingPunct="0">
              <a:defRPr kumimoji="1">
                <a:latin typeface="굴림" pitchFamily="50" charset="-127"/>
                <a:ea typeface="굴림" pitchFamily="50" charset="-127"/>
              </a:defRPr>
            </a:lvl2pPr>
            <a:lvl3pPr marL="1143000" indent="-228600" eaLnBrk="0" hangingPunct="0">
              <a:defRPr kumimoji="1">
                <a:latin typeface="굴림" pitchFamily="50" charset="-127"/>
                <a:ea typeface="굴림" pitchFamily="50" charset="-127"/>
              </a:defRPr>
            </a:lvl3pPr>
            <a:lvl4pPr marL="1600200" indent="-228600" eaLnBrk="0" hangingPunct="0">
              <a:defRPr kumimoji="1">
                <a:latin typeface="굴림" pitchFamily="50" charset="-127"/>
                <a:ea typeface="굴림" pitchFamily="50" charset="-127"/>
              </a:defRPr>
            </a:lvl4pPr>
            <a:lvl5pPr marL="2057400" indent="-228600" eaLnBrk="0" hangingPunct="0">
              <a:defRPr kumimoji="1">
                <a:latin typeface="굴림" pitchFamily="50" charset="-127"/>
                <a:ea typeface="굴림" pitchFamily="50" charset="-127"/>
              </a:defRPr>
            </a:lvl5pPr>
            <a:lvl6pPr marL="2514600" indent="-228600" eaLnBrk="0" fontAlgn="base" hangingPunct="0">
              <a:spcBef>
                <a:spcPct val="0"/>
              </a:spcBef>
              <a:spcAft>
                <a:spcPct val="0"/>
              </a:spcAft>
              <a:defRPr kumimoji="1">
                <a:latin typeface="굴림" pitchFamily="50" charset="-127"/>
                <a:ea typeface="굴림" pitchFamily="50" charset="-127"/>
              </a:defRPr>
            </a:lvl6pPr>
            <a:lvl7pPr marL="2971800" indent="-228600" eaLnBrk="0" fontAlgn="base" hangingPunct="0">
              <a:spcBef>
                <a:spcPct val="0"/>
              </a:spcBef>
              <a:spcAft>
                <a:spcPct val="0"/>
              </a:spcAft>
              <a:defRPr kumimoji="1">
                <a:latin typeface="굴림" pitchFamily="50" charset="-127"/>
                <a:ea typeface="굴림" pitchFamily="50" charset="-127"/>
              </a:defRPr>
            </a:lvl7pPr>
            <a:lvl8pPr marL="3429000" indent="-228600" eaLnBrk="0" fontAlgn="base" hangingPunct="0">
              <a:spcBef>
                <a:spcPct val="0"/>
              </a:spcBef>
              <a:spcAft>
                <a:spcPct val="0"/>
              </a:spcAft>
              <a:defRPr kumimoji="1">
                <a:latin typeface="굴림" pitchFamily="50" charset="-127"/>
                <a:ea typeface="굴림" pitchFamily="50" charset="-127"/>
              </a:defRPr>
            </a:lvl8pPr>
            <a:lvl9pPr marL="3886200" indent="-228600" eaLnBrk="0" fontAlgn="base" hangingPunct="0">
              <a:spcBef>
                <a:spcPct val="0"/>
              </a:spcBef>
              <a:spcAft>
                <a:spcPct val="0"/>
              </a:spcAft>
              <a:defRPr kumimoji="1">
                <a:latin typeface="굴림" pitchFamily="50" charset="-127"/>
                <a:ea typeface="굴림" pitchFamily="50" charset="-127"/>
              </a:defRPr>
            </a:lvl9pPr>
          </a:lstStyle>
          <a:p>
            <a:r>
              <a:rPr lang="es-MX" altLang="ko-KR" sz="1400" b="1" dirty="0" smtClean="0"/>
              <a:t>IMPACT:</a:t>
            </a:r>
            <a:endParaRPr lang="es-419" altLang="ko-KR" sz="1400" b="1" dirty="0" smtClean="0"/>
          </a:p>
          <a:p>
            <a:pPr marL="171450" indent="-171450">
              <a:buFont typeface="Arial" panose="020B0604020202020204" pitchFamily="34" charset="0"/>
              <a:buChar char="•"/>
            </a:pPr>
            <a:endParaRPr lang="en-US" altLang="ko-KR" dirty="0"/>
          </a:p>
          <a:p>
            <a:pPr marL="171450" indent="-171450">
              <a:buFont typeface="Arial" panose="020B0604020202020204" pitchFamily="34" charset="0"/>
              <a:buChar char="•"/>
            </a:pPr>
            <a:r>
              <a:rPr lang="en-US" altLang="ko-KR" dirty="0"/>
              <a:t>Reduction in line stoppages due to late material requests</a:t>
            </a:r>
            <a:r>
              <a:rPr lang="en-US" altLang="ko-KR" dirty="0" smtClean="0"/>
              <a:t>.</a:t>
            </a:r>
          </a:p>
          <a:p>
            <a:pPr marL="171450" indent="-171450">
              <a:buFont typeface="Arial" panose="020B0604020202020204" pitchFamily="34" charset="0"/>
              <a:buChar char="•"/>
            </a:pPr>
            <a:endParaRPr lang="en-US" altLang="ko-KR" dirty="0"/>
          </a:p>
          <a:p>
            <a:pPr marL="171450" indent="-171450">
              <a:buFont typeface="Arial" panose="020B0604020202020204" pitchFamily="34" charset="0"/>
              <a:buChar char="•"/>
            </a:pPr>
            <a:r>
              <a:rPr lang="es-MX" altLang="ko-KR" dirty="0" err="1"/>
              <a:t>Ensuring</a:t>
            </a:r>
            <a:r>
              <a:rPr lang="es-MX" altLang="ko-KR" dirty="0"/>
              <a:t> </a:t>
            </a:r>
            <a:r>
              <a:rPr lang="es-MX" altLang="ko-KR" dirty="0" err="1"/>
              <a:t>daily</a:t>
            </a:r>
            <a:r>
              <a:rPr lang="es-MX" altLang="ko-KR" dirty="0"/>
              <a:t> </a:t>
            </a:r>
            <a:r>
              <a:rPr lang="es-MX" altLang="ko-KR" dirty="0" err="1"/>
              <a:t>production</a:t>
            </a:r>
            <a:r>
              <a:rPr lang="es-MX" altLang="ko-KR" dirty="0" smtClean="0"/>
              <a:t>.</a:t>
            </a:r>
          </a:p>
          <a:p>
            <a:pPr marL="171450" indent="-171450">
              <a:buFont typeface="Arial" panose="020B0604020202020204" pitchFamily="34" charset="0"/>
              <a:buChar char="•"/>
            </a:pPr>
            <a:endParaRPr lang="es-MX" altLang="ko-KR" dirty="0"/>
          </a:p>
          <a:p>
            <a:pPr marL="171450" indent="-171450">
              <a:buFont typeface="Arial" panose="020B0604020202020204" pitchFamily="34" charset="0"/>
              <a:buChar char="•"/>
            </a:pPr>
            <a:r>
              <a:rPr lang="en-US" altLang="ko-KR" dirty="0"/>
              <a:t>Anticipating shortages of critical materials, as well as streamlining changes to the plan and adjustments to the production line.</a:t>
            </a:r>
            <a:endParaRPr lang="ko-KR" altLang="en-US" dirty="0"/>
          </a:p>
        </p:txBody>
      </p:sp>
      <p:sp>
        <p:nvSpPr>
          <p:cNvPr id="19" name="TextBox 18"/>
          <p:cNvSpPr txBox="1"/>
          <p:nvPr/>
        </p:nvSpPr>
        <p:spPr>
          <a:xfrm>
            <a:off x="3277620" y="5919793"/>
            <a:ext cx="3608683" cy="430887"/>
          </a:xfrm>
          <a:prstGeom prst="rect">
            <a:avLst/>
          </a:prstGeom>
          <a:noFill/>
        </p:spPr>
        <p:txBody>
          <a:bodyPr wrap="square" rtlCol="0">
            <a:spAutoFit/>
          </a:bodyPr>
          <a:lstStyle/>
          <a:p>
            <a:r>
              <a:rPr lang="en-US" sz="1100" dirty="0">
                <a:latin typeface="LG스마트체 Regular" panose="020B0600000101010101" pitchFamily="34" charset="-127"/>
                <a:ea typeface="LG스마트체 Regular" panose="020B0600000101010101" pitchFamily="34" charset="-127"/>
              </a:rPr>
              <a:t>The calculator is flexible to any changes in the BOM, part number, or daily inventories for daily updating.</a:t>
            </a:r>
            <a:endParaRPr lang="es-MX" sz="1100" dirty="0">
              <a:latin typeface="LG스마트체 Regular" panose="020B0600000101010101" pitchFamily="34" charset="-127"/>
              <a:ea typeface="LG스마트체 Regular" panose="020B0600000101010101" pitchFamily="34" charset="-127"/>
            </a:endParaRPr>
          </a:p>
        </p:txBody>
      </p:sp>
      <p:sp>
        <p:nvSpPr>
          <p:cNvPr id="20" name="TextBox 19"/>
          <p:cNvSpPr txBox="1"/>
          <p:nvPr/>
        </p:nvSpPr>
        <p:spPr>
          <a:xfrm>
            <a:off x="5396917" y="3764733"/>
            <a:ext cx="1622881" cy="1446550"/>
          </a:xfrm>
          <a:prstGeom prst="rect">
            <a:avLst/>
          </a:prstGeom>
          <a:noFill/>
        </p:spPr>
        <p:txBody>
          <a:bodyPr wrap="square" rtlCol="0">
            <a:spAutoFit/>
          </a:bodyPr>
          <a:lstStyle/>
          <a:p>
            <a:r>
              <a:rPr lang="en-US" sz="1100" dirty="0">
                <a:latin typeface="LG스마트체 Regular" panose="020B0600000101010101" pitchFamily="34" charset="-127"/>
                <a:ea typeface="LG스마트체 Regular" panose="020B0600000101010101" pitchFamily="34" charset="-127"/>
              </a:rPr>
              <a:t>The aim is to bring forward requests and enable the warehouse to anticipate stock levels of critical materials before the actual request for production.</a:t>
            </a:r>
            <a:endParaRPr lang="es-MX" sz="1100" dirty="0">
              <a:latin typeface="LG스마트체 Regular" panose="020B0600000101010101" pitchFamily="34" charset="-127"/>
              <a:ea typeface="LG스마트체 Regular" panose="020B0600000101010101" pitchFamily="34" charset="-127"/>
            </a:endParaRPr>
          </a:p>
        </p:txBody>
      </p:sp>
      <p:pic>
        <p:nvPicPr>
          <p:cNvPr id="5" name="Picture 4"/>
          <p:cNvPicPr>
            <a:picLocks noChangeAspect="1"/>
          </p:cNvPicPr>
          <p:nvPr/>
        </p:nvPicPr>
        <p:blipFill>
          <a:blip r:embed="rId3"/>
          <a:stretch>
            <a:fillRect/>
          </a:stretch>
        </p:blipFill>
        <p:spPr>
          <a:xfrm>
            <a:off x="208607" y="3277982"/>
            <a:ext cx="2851837" cy="1399390"/>
          </a:xfrm>
          <a:prstGeom prst="rect">
            <a:avLst/>
          </a:prstGeom>
        </p:spPr>
      </p:pic>
      <p:pic>
        <p:nvPicPr>
          <p:cNvPr id="6" name="Picture 5"/>
          <p:cNvPicPr>
            <a:picLocks noChangeAspect="1"/>
          </p:cNvPicPr>
          <p:nvPr/>
        </p:nvPicPr>
        <p:blipFill>
          <a:blip r:embed="rId4"/>
          <a:stretch>
            <a:fillRect/>
          </a:stretch>
        </p:blipFill>
        <p:spPr>
          <a:xfrm>
            <a:off x="3330333" y="3189706"/>
            <a:ext cx="1996569" cy="2596604"/>
          </a:xfrm>
          <a:prstGeom prst="rect">
            <a:avLst/>
          </a:prstGeom>
        </p:spPr>
      </p:pic>
    </p:spTree>
    <p:extLst>
      <p:ext uri="{BB962C8B-B14F-4D97-AF65-F5344CB8AC3E}">
        <p14:creationId xmlns:p14="http://schemas.microsoft.com/office/powerpoint/2010/main" val="4055971772"/>
      </p:ext>
    </p:extLst>
  </p:cSld>
  <p:clrMapOvr>
    <a:masterClrMapping/>
  </p:clrMapOvr>
</p:sld>
</file>

<file path=ppt/theme/theme1.xml><?xml version="1.0" encoding="utf-8"?>
<a:theme xmlns:a="http://schemas.openxmlformats.org/drawingml/2006/main" name="3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895</TotalTime>
  <Words>299</Words>
  <Application>Microsoft Office PowerPoint</Application>
  <PresentationFormat>A4 Paper (210x297 mm)</PresentationFormat>
  <Paragraphs>54</Paragraphs>
  <Slides>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LG스마트체 Regular</vt:lpstr>
      <vt:lpstr>LG스마트체 SemiBold</vt:lpstr>
      <vt:lpstr>LG스마트체2.0 Bold</vt:lpstr>
      <vt:lpstr>가는둥근제목체</vt:lpstr>
      <vt:lpstr>맑은 고딕</vt:lpstr>
      <vt:lpstr>바탕</vt:lpstr>
      <vt:lpstr>Arial</vt:lpstr>
      <vt:lpstr>Arial Narrow</vt:lpstr>
      <vt:lpstr>Times New Roman</vt:lpstr>
      <vt:lpstr>Wingdings</vt:lpstr>
      <vt:lpstr>3_Office 테마</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haeyun Jeong(정해윤)</dc:creator>
  <cp:lastModifiedBy>Saul Rodriguez Garduno</cp:lastModifiedBy>
  <cp:revision>53</cp:revision>
  <dcterms:created xsi:type="dcterms:W3CDTF">2024-01-23T23:13:38Z</dcterms:created>
  <dcterms:modified xsi:type="dcterms:W3CDTF">2026-09-19T02:09:13Z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9b8a968-831d-4cfc-b1f9-4367a1331151_Enabled">
    <vt:lpwstr>true</vt:lpwstr>
  </property>
  <property fmtid="{D5CDD505-2E9C-101B-9397-08002B2CF9AE}" pid="3" name="MSIP_Label_99b8a968-831d-4cfc-b1f9-4367a1331151_SetDate">
    <vt:lpwstr>2024-05-04T19:05:14Z</vt:lpwstr>
  </property>
  <property fmtid="{D5CDD505-2E9C-101B-9397-08002B2CF9AE}" pid="4" name="MSIP_Label_99b8a968-831d-4cfc-b1f9-4367a1331151_Method">
    <vt:lpwstr>Privileged</vt:lpwstr>
  </property>
  <property fmtid="{D5CDD505-2E9C-101B-9397-08002B2CF9AE}" pid="5" name="MSIP_Label_99b8a968-831d-4cfc-b1f9-4367a1331151_Name">
    <vt:lpwstr>Confidential</vt:lpwstr>
  </property>
  <property fmtid="{D5CDD505-2E9C-101B-9397-08002B2CF9AE}" pid="6" name="MSIP_Label_99b8a968-831d-4cfc-b1f9-4367a1331151_SiteId">
    <vt:lpwstr>e6c7989d-a5fe-4b7b-a335-3288406db2fd</vt:lpwstr>
  </property>
  <property fmtid="{D5CDD505-2E9C-101B-9397-08002B2CF9AE}" pid="7" name="MSIP_Label_99b8a968-831d-4cfc-b1f9-4367a1331151_ActionId">
    <vt:lpwstr>66310290-fea6-40d2-83bd-c8b58c1b5aea</vt:lpwstr>
  </property>
  <property fmtid="{D5CDD505-2E9C-101B-9397-08002B2CF9AE}" pid="8" name="MSIP_Label_99b8a968-831d-4cfc-b1f9-4367a1331151_ContentBits">
    <vt:lpwstr>3</vt:lpwstr>
  </property>
</Properties>
</file>